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9" r:id="rId5"/>
    <p:sldId id="260" r:id="rId6"/>
    <p:sldId id="265" r:id="rId23"/>
    <p:sldId id="264" r:id="rId22"/>
    <p:sldId id="262" r:id="rId8"/>
    <p:sldId id="263" r:id="rId9"/>
  </p:sldIdLst>
  <p:sldSz cx="12192000" cy="6858000"/>
  <p:notesSz cx="6858000" cy="9144000"/>
  <p:embeddedFontLst>
    <p:embeddedFont>
      <p:font typeface="Space Grotesk"/>
      <p:bold r:id="rId10"/>
    </p:embeddedFont>
    <p:embeddedFont>
      <p:font typeface="JetBrains Mono"/>
      <p:bold r:id="rId11"/>
    </p:embeddedFont>
    <p:embeddedFont>
      <p:font typeface="DM Sans"/>
      <p:bold r:id="rId12"/>
      <p:italic r:id="rId13"/>
    </p:embeddedFont>
    <p:embeddedFont>
      <p:font typeface="Calibri" panose="020F0502020204030204" pitchFamily="34" charset="0"/>
      <p:regular r:id="rId14"/>
      <p:bold r:id="rId15"/>
      <p:italic r:id="rId16"/>
      <p:boldItalic r:id="rId17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2" d="100"/>
          <a:sy n="82" d="100"/>
        </p:scale>
        <p:origin x="691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8" Type="http://schemas.openxmlformats.org/officeDocument/2006/relationships/slide" Target="slides/slide9.xml"/><Relationship Id="rId9" Type="http://schemas.openxmlformats.org/officeDocument/2006/relationships/slide" Target="slides/slide10.xml"/><Relationship Id="rId10" Type="http://schemas.openxmlformats.org/officeDocument/2006/relationships/font" Target="fonts/font1.fntdata"/><Relationship Id="rId11" Type="http://schemas.openxmlformats.org/officeDocument/2006/relationships/font" Target="fonts/font2.fntdata"/><Relationship Id="rId12" Type="http://schemas.openxmlformats.org/officeDocument/2006/relationships/font" Target="fonts/font3.fntdata"/><Relationship Id="rId13" Type="http://schemas.openxmlformats.org/officeDocument/2006/relationships/font" Target="fonts/font4.fntdata"/><Relationship Id="rId14" Type="http://schemas.openxmlformats.org/officeDocument/2006/relationships/font" Target="fonts/font5.fntdata"/><Relationship Id="rId15" Type="http://schemas.openxmlformats.org/officeDocument/2006/relationships/font" Target="fonts/font6.fntdata"/><Relationship Id="rId16" Type="http://schemas.openxmlformats.org/officeDocument/2006/relationships/font" Target="fonts/font7.fntdata"/><Relationship Id="rId17" Type="http://schemas.openxmlformats.org/officeDocument/2006/relationships/font" Target="fonts/font8.fntdata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7.xml"/><Relationship Id="rId2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Horas libres</c:v>
                </c:pt>
              </c:strCache>
            </c:strRef>
          </c:tx>
          <c:dPt>
            <c:idx val="0"/>
            <c:spPr>
              <a:solidFill>
                <a:srgbClr val="93C5FD"/>
              </a:solidFill>
              <a:ln>
                <a:noFill/>
              </a:ln>
            </c:spPr>
          </c:dPt>
          <c:dPt>
            <c:idx val="1"/>
            <c:spPr>
              <a:solidFill>
                <a:srgbClr val="93C5FD"/>
              </a:solidFill>
              <a:ln>
                <a:noFill/>
              </a:ln>
            </c:spPr>
          </c:dPt>
          <c:dPt>
            <c:idx val="2"/>
            <c:spPr>
              <a:solidFill>
                <a:srgbClr val="93C5FD"/>
              </a:solidFill>
              <a:ln>
                <a:noFill/>
              </a:ln>
            </c:spPr>
          </c:dPt>
          <c:dPt>
            <c:idx val="3"/>
            <c:spPr>
              <a:solidFill>
                <a:srgbClr val="93C5FD"/>
              </a:solidFill>
              <a:ln>
                <a:noFill/>
              </a:ln>
            </c:spPr>
          </c:dPt>
          <c:dPt>
            <c:idx val="4"/>
            <c:spPr>
              <a:solidFill>
                <a:srgbClr val="93C5FD"/>
              </a:solidFill>
              <a:ln>
                <a:noFill/>
              </a:ln>
            </c:spPr>
          </c:dPt>
          <c:dPt>
            <c:idx val="5"/>
            <c:spPr>
              <a:solidFill>
                <a:srgbClr val="2563EB"/>
              </a:solidFill>
              <a:ln>
                <a:noFill/>
              </a:ln>
            </c:spPr>
          </c:dPt>
          <c:dPt>
            <c:idx val="6"/>
            <c:spPr>
              <a:solidFill>
                <a:srgbClr val="2563EB"/>
              </a:solidFill>
              <a:ln>
                <a:noFill/>
              </a:ln>
            </c:spPr>
          </c:dPt>
          <c:cat>
            <c:strRef>
              <c:f>Sheet1!$A$2:$A$8</c:f>
              <c:strCache>
                <c:ptCount val="7"/>
                <c:pt idx="0">
                  <c:v>Lun</c:v>
                </c:pt>
                <c:pt idx="1">
                  <c:v>Mar</c:v>
                </c:pt>
                <c:pt idx="2">
                  <c:v>Mié</c:v>
                </c:pt>
                <c:pt idx="3">
                  <c:v>Jue</c:v>
                </c:pt>
                <c:pt idx="4">
                  <c:v>Vie</c:v>
                </c:pt>
                <c:pt idx="5">
                  <c:v>Sáb</c:v>
                </c:pt>
                <c:pt idx="6">
                  <c:v>Dom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</c:v>
                </c:pt>
                <c:pt idx="1">
                  <c:v>4</c:v>
                </c:pt>
                <c:pt idx="2">
                  <c:v>2</c:v>
                </c:pt>
                <c:pt idx="3">
                  <c:v>2</c:v>
                </c:pt>
                <c:pt idx="4">
                  <c:v>0</c:v>
                </c:pt>
                <c:pt idx="5">
                  <c:v>15</c:v>
                </c:pt>
                <c:pt idx="6">
                  <c:v>15</c:v>
                </c:pt>
              </c:numCache>
            </c:numRef>
          </c:val>
        </c:ser>
        <c:dLbls>
          <c:numFmt formatCode="0&quot; h&quot;" sourceLinked="0"/>
          <c:txPr>
            <a:bodyPr/>
            <a:lstStyle/>
            <a:p>
              <a:pPr>
                <a:defRPr sz="1100" b="1">
                  <a:solidFill>
                    <a:srgbClr val="0F172A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BD5E1"/>
            </a:solidFill>
          </a:ln>
        </c:spPr>
        <c:txPr>
          <a:bodyPr/>
          <a:lstStyle/>
          <a:p>
            <a:pPr>
              <a:defRPr sz="1100">
                <a:solidFill>
                  <a:srgbClr val="47556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7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334155"/>
          </a:solidFill>
          <a:latin typeface="DM Sans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5648325"/>
            <a:ext cx="10972800" cy="6762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09600" y="5648325"/>
            <a:ext cx="10972800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09600" y="2102197"/>
            <a:ext cx="11430000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 dirty="0">
                <a:solidFill>
                  <a:srgbClr val="F97316"/>
                </a:solidFill>
                <a:latin typeface="JetBrains Mono"/>
              </a:rPr>
              <a:t>CASO 1 · EQUIPO «CAMACHO QUIERE EGRESAR»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511772"/>
            <a:ext cx="9701212" cy="1215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784"/>
              </a:lnSpc>
            </a:pPr>
            <a:r>
              <a:rPr sz="4350" b="1" i="0" u="none">
                <a:solidFill>
                  <a:srgbClr val="F8FAFC"/>
                </a:solidFill>
                <a:latin typeface="Space Grotesk"/>
              </a:rPr>
              <a:t>Planificador de Estudio Personalizado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3917602"/>
            <a:ext cx="771525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0" i="0" u="none">
                <a:solidFill>
                  <a:srgbClr val="CBD5E1"/>
                </a:solidFill>
                <a:latin typeface="DM Sans"/>
              </a:rPr>
              <a:t>Sistema multi-agente con orquestación cíclica en LangGraph, herramientas deterministas y motor de inferencia Groq.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67600" y="6134100"/>
            <a:ext cx="4724400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94A3B8"/>
                </a:solidFill>
                <a:latin typeface="JetBrains Mono"/>
              </a:rPr>
              <a:t>Python · LangGraph · LangChain · Pydantic · Groq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5886450"/>
            <a:ext cx="820738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 dirty="0">
                <a:solidFill>
                  <a:srgbClr val="64748B"/>
                </a:solidFill>
                <a:latin typeface="DM Sans"/>
              </a:rPr>
              <a:t>EXPOSITOR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6096000"/>
            <a:ext cx="1000274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 dirty="0">
                <a:solidFill>
                  <a:srgbClr val="F8FAFC"/>
                </a:solidFill>
                <a:latin typeface="DM Sans"/>
              </a:rPr>
              <a:t>Juan </a:t>
            </a:r>
            <a:r>
              <a:rPr sz="1350" b="1" i="0" u="none" dirty="0" smtClean="0">
                <a:solidFill>
                  <a:srgbClr val="F8FAFC"/>
                </a:solidFill>
                <a:latin typeface="DM Sans"/>
              </a:rPr>
              <a:t>Castro</a:t>
            </a:r>
            <a:endParaRPr sz="1350" b="1" i="0" u="none" dirty="0">
              <a:solidFill>
                <a:srgbClr val="F8FAFC"/>
              </a:solidFill>
              <a:latin typeface="DM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591246"/>
            <a:ext cx="4827984" cy="2608808"/>
          </a:xfrm>
          <a:prstGeom prst="roundRect">
            <a:avLst>
              <a:gd name="adj" fmla="val 5841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62025" y="4190404"/>
            <a:ext cx="412313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4784" y="2614612"/>
            <a:ext cx="190500" cy="2000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4784" y="3319462"/>
            <a:ext cx="171450" cy="20002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4784" y="4024312"/>
            <a:ext cx="219075" cy="20002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94784" y="4729162"/>
            <a:ext cx="190500" cy="2000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2563EB"/>
                </a:solidFill>
                <a:latin typeface="JetBrains Mono"/>
              </a:rPr>
              <a:t>01 · CONTEXTO Y DEFINICIÓN DEL PROBLEMA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34367"/>
            <a:ext cx="11582400" cy="4381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Space Grotesk"/>
              </a:rPr>
              <a:t>¿Cómo repartir bien el tiempo libre sin fracasar en el intento?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2025" y="2943671"/>
            <a:ext cx="5153917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EA580C"/>
                </a:solidFill>
                <a:latin typeface="JetBrains Mono"/>
              </a:rPr>
              <a:t>CASO REAL DE EJECUCIÓN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2025" y="4390429"/>
            <a:ext cx="421838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334155"/>
                </a:solidFill>
                <a:latin typeface="DM Sans"/>
              </a:rPr>
              <a:t>Planificar a mano en último ciclo genera sobrecarga cognitiva o descuido del proyecto de titulación.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2025" y="3347888"/>
            <a:ext cx="1845468" cy="609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4800"/>
              </a:lnSpc>
            </a:pPr>
            <a:r>
              <a:rPr sz="4800" b="1" i="0" u="none">
                <a:solidFill>
                  <a:srgbClr val="0F172A"/>
                </a:solidFill>
                <a:latin typeface="DM Sans"/>
              </a:rPr>
              <a:t>21.6h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28900" y="3305621"/>
            <a:ext cx="2551509" cy="6942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22"/>
              </a:lnSpc>
            </a:pPr>
            <a:r>
              <a:rPr sz="1350" b="0" i="0" u="none">
                <a:solidFill>
                  <a:srgbClr val="475569"/>
                </a:solidFill>
                <a:latin typeface="DM Sans"/>
              </a:rPr>
              <a:t>requeridas vs. </a:t>
            </a:r>
            <a:r>
              <a:rPr sz="1350" b="1" i="0" u="none">
                <a:solidFill>
                  <a:srgbClr val="475569"/>
                </a:solidFill>
                <a:latin typeface="DM Sans"/>
              </a:rPr>
              <a:t>42.0h</a:t>
            </a:r>
            <a:r>
              <a:rPr sz="1350" b="0" i="0" u="none">
                <a:solidFill>
                  <a:srgbClr val="475569"/>
                </a:solidFill>
                <a:latin typeface="DM Sans"/>
              </a:rPr>
              <a:t> libres concentradas en fin de semana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94784" y="2590800"/>
            <a:ext cx="5782865" cy="495300"/>
          </a:xfrm>
          <a:prstGeom prst="rect">
            <a:avLst/>
          </a:prstGeom>
          <a:noFill/>
        </p:spPr>
        <p:txBody>
          <a:bodyPr wrap="square" lIns="30480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E293B"/>
                </a:solidFill>
                <a:latin typeface="DM Sans"/>
              </a:rPr>
              <a:t>Decisión a apoyar:</a:t>
            </a:r>
            <a:r>
              <a:rPr sz="1500" b="0" i="0" u="none">
                <a:solidFill>
                  <a:srgbClr val="1E293B"/>
                </a:solidFill>
                <a:latin typeface="DM Sans"/>
              </a:rPr>
              <a:t> Asignación exacta de horas, días y actividades por curso.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4784" y="3295650"/>
            <a:ext cx="5782865" cy="495300"/>
          </a:xfrm>
          <a:prstGeom prst="rect">
            <a:avLst/>
          </a:prstGeom>
          <a:noFill/>
        </p:spPr>
        <p:txBody>
          <a:bodyPr wrap="square" lIns="28575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E293B"/>
                </a:solidFill>
                <a:latin typeface="DM Sans"/>
              </a:rPr>
              <a:t>Usuarios:</a:t>
            </a:r>
            <a:r>
              <a:rPr sz="1500" b="0" i="0" u="none">
                <a:solidFill>
                  <a:srgbClr val="1E293B"/>
                </a:solidFill>
                <a:latin typeface="DM Sans"/>
              </a:rPr>
              <a:t> Estudiantes por egresar y asesores académicos revisores.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4784" y="4000500"/>
            <a:ext cx="5782865" cy="461665"/>
          </a:xfrm>
          <a:prstGeom prst="rect">
            <a:avLst/>
          </a:prstGeom>
          <a:noFill/>
        </p:spPr>
        <p:txBody>
          <a:bodyPr wrap="square" lIns="333375" tIns="0" rIns="0" bIns="0" anchor="t">
            <a:spAutoFit/>
          </a:bodyPr>
          <a:lstStyle/>
          <a:p>
            <a:pPr algn="l"/>
            <a:r>
              <a:rPr sz="1500" b="1" i="0" u="none" dirty="0">
                <a:solidFill>
                  <a:srgbClr val="1E293B"/>
                </a:solidFill>
                <a:latin typeface="DM Sans"/>
              </a:rPr>
              <a:t>5 </a:t>
            </a:r>
            <a:r>
              <a:rPr sz="1500" b="1" i="0" u="none" dirty="0" smtClean="0">
                <a:solidFill>
                  <a:srgbClr val="1E293B"/>
                </a:solidFill>
                <a:latin typeface="DM Sans"/>
              </a:rPr>
              <a:t>Inputs:</a:t>
            </a:r>
            <a:r>
              <a:rPr sz="1500" b="0" i="0" u="none" dirty="0" smtClean="0">
                <a:solidFill>
                  <a:srgbClr val="1E293B"/>
                </a:solidFill>
                <a:latin typeface="DM Sans"/>
              </a:rPr>
              <a:t> </a:t>
            </a:r>
            <a:r>
              <a:rPr sz="1500" b="0" i="0" u="none" dirty="0" err="1">
                <a:solidFill>
                  <a:srgbClr val="1E293B"/>
                </a:solidFill>
                <a:latin typeface="DM Sans"/>
              </a:rPr>
              <a:t>cursos</a:t>
            </a:r>
            <a:r>
              <a:rPr sz="1500" b="0" i="0" u="none" dirty="0">
                <a:solidFill>
                  <a:srgbClr val="1E293B"/>
                </a:solidFill>
                <a:latin typeface="DM Sans"/>
              </a:rPr>
              <a:t> y </a:t>
            </a:r>
            <a:r>
              <a:rPr sz="1500" b="0" i="0" u="none" dirty="0" err="1">
                <a:solidFill>
                  <a:srgbClr val="1E293B"/>
                </a:solidFill>
                <a:latin typeface="DM Sans"/>
              </a:rPr>
              <a:t>disponibilidad</a:t>
            </a:r>
            <a:r>
              <a:rPr sz="1500" b="0" i="0" u="none" dirty="0">
                <a:solidFill>
                  <a:srgbClr val="1E293B"/>
                </a:solidFill>
                <a:latin typeface="DM Sans"/>
              </a:rPr>
              <a:t> </a:t>
            </a:r>
            <a:r>
              <a:rPr sz="1500" b="0" i="0" u="none" dirty="0" err="1">
                <a:solidFill>
                  <a:srgbClr val="1E293B"/>
                </a:solidFill>
                <a:latin typeface="DM Sans"/>
              </a:rPr>
              <a:t>obligatorios</a:t>
            </a:r>
            <a:r>
              <a:rPr sz="1500" b="0" i="0" u="none" dirty="0">
                <a:solidFill>
                  <a:srgbClr val="1E293B"/>
                </a:solidFill>
                <a:latin typeface="DM Sans"/>
              </a:rPr>
              <a:t>; </a:t>
            </a:r>
            <a:r>
              <a:rPr sz="1500" b="0" i="0" u="none" dirty="0" err="1">
                <a:solidFill>
                  <a:srgbClr val="1E293B"/>
                </a:solidFill>
                <a:latin typeface="DM Sans"/>
              </a:rPr>
              <a:t>prioridades</a:t>
            </a:r>
            <a:r>
              <a:rPr sz="1500" b="0" i="0" u="none" dirty="0">
                <a:solidFill>
                  <a:srgbClr val="1E293B"/>
                </a:solidFill>
                <a:latin typeface="DM Sans"/>
              </a:rPr>
              <a:t>, </a:t>
            </a:r>
            <a:r>
              <a:rPr sz="1500" b="0" i="0" u="none" dirty="0" err="1">
                <a:solidFill>
                  <a:srgbClr val="1E293B"/>
                </a:solidFill>
                <a:latin typeface="DM Sans"/>
              </a:rPr>
              <a:t>restricciones</a:t>
            </a:r>
            <a:r>
              <a:rPr sz="1500" b="0" i="0" u="none" dirty="0">
                <a:solidFill>
                  <a:srgbClr val="1E293B"/>
                </a:solidFill>
                <a:latin typeface="DM Sans"/>
              </a:rPr>
              <a:t> y meta </a:t>
            </a:r>
            <a:r>
              <a:rPr sz="1500" b="0" i="0" u="none" dirty="0" err="1">
                <a:solidFill>
                  <a:srgbClr val="1E293B"/>
                </a:solidFill>
                <a:latin typeface="DM Sans"/>
              </a:rPr>
              <a:t>opcionales</a:t>
            </a:r>
            <a:r>
              <a:rPr sz="1500" b="0" i="0" u="none" dirty="0">
                <a:solidFill>
                  <a:srgbClr val="1E293B"/>
                </a:solidFill>
                <a:latin typeface="DM Sans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94784" y="4705350"/>
            <a:ext cx="5782865" cy="495300"/>
          </a:xfrm>
          <a:prstGeom prst="rect">
            <a:avLst/>
          </a:prstGeom>
          <a:noFill/>
        </p:spPr>
        <p:txBody>
          <a:bodyPr wrap="square" lIns="30480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E293B"/>
                </a:solidFill>
                <a:latin typeface="DM Sans"/>
              </a:rPr>
              <a:t>Impacto directo:</a:t>
            </a:r>
            <a:r>
              <a:rPr sz="1500" b="0" i="0" u="none">
                <a:solidFill>
                  <a:srgbClr val="1E293B"/>
                </a:solidFill>
                <a:latin typeface="DM Sans"/>
              </a:rPr>
              <a:t> Horarios factibles, reducción de fatiga y supuestos explícitos.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609600" y="5991225"/>
            <a:ext cx="109728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agrama del flujo multi-agente: Analista, Planificador, Evaluador y Decisor, con las tools y la rama condicional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05" y="1371600"/>
            <a:ext cx="10972800" cy="3749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2563EB"/>
                </a:solidFill>
                <a:latin typeface="JetBrains Mono"/>
              </a:rPr>
              <a:t>02 · ARQUITECTURA Y FLUJO DE ORQUESTACIÓN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13816"/>
            <a:ext cx="11582400" cy="4381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Space Grotesk"/>
              </a:rPr>
              <a:t>4 Agentes, 2 Tools y una Rama de Autocorrección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172200"/>
            <a:ext cx="5934317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 dirty="0">
                <a:solidFill>
                  <a:srgbClr val="334155"/>
                </a:solidFill>
                <a:latin typeface="DM Sans"/>
              </a:rPr>
              <a:t>Estado </a:t>
            </a:r>
            <a:r>
              <a:rPr sz="1350" b="1" i="0" u="none" dirty="0" err="1">
                <a:solidFill>
                  <a:srgbClr val="334155"/>
                </a:solidFill>
                <a:latin typeface="DM Sans"/>
              </a:rPr>
              <a:t>compartido</a:t>
            </a:r>
            <a:r>
              <a:rPr sz="1350" b="1" i="0" u="none" dirty="0">
                <a:solidFill>
                  <a:srgbClr val="334155"/>
                </a:solidFill>
                <a:latin typeface="DM Sans"/>
              </a:rPr>
              <a:t>:</a:t>
            </a:r>
            <a:r>
              <a:rPr sz="135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350" b="0" i="0" u="none" dirty="0" err="1" smtClean="0">
                <a:solidFill>
                  <a:srgbClr val="334155"/>
                </a:solidFill>
                <a:latin typeface="DM Sans"/>
              </a:rPr>
              <a:t>EstadoPla</a:t>
            </a:r>
            <a:r>
              <a:rPr lang="es-ES" sz="1350" b="0" i="0" u="none" dirty="0" smtClean="0">
                <a:solidFill>
                  <a:srgbClr val="334155"/>
                </a:solidFill>
                <a:latin typeface="DM Sans"/>
              </a:rPr>
              <a:t>n</a:t>
            </a:r>
            <a:r>
              <a:rPr sz="1350" b="0" i="0" u="none" dirty="0" smtClean="0">
                <a:solidFill>
                  <a:srgbClr val="334155"/>
                </a:solidFill>
                <a:latin typeface="DM Sans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DM Sans"/>
              </a:rPr>
              <a:t>almacena</a:t>
            </a:r>
            <a:r>
              <a:rPr sz="135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DM Sans"/>
              </a:rPr>
              <a:t>perfil</a:t>
            </a:r>
            <a:r>
              <a:rPr sz="1350" b="0" i="0" u="none" dirty="0">
                <a:solidFill>
                  <a:srgbClr val="334155"/>
                </a:solidFill>
                <a:latin typeface="DM Sans"/>
              </a:rPr>
              <a:t>, planes, </a:t>
            </a:r>
            <a:r>
              <a:rPr sz="1350" b="0" i="0" u="none" dirty="0" err="1">
                <a:solidFill>
                  <a:srgbClr val="334155"/>
                </a:solidFill>
                <a:latin typeface="DM Sans"/>
              </a:rPr>
              <a:t>métricas</a:t>
            </a:r>
            <a:r>
              <a:rPr sz="1350" b="0" i="0" u="none" dirty="0">
                <a:solidFill>
                  <a:srgbClr val="334155"/>
                </a:solidFill>
                <a:latin typeface="DM Sans"/>
              </a:rPr>
              <a:t> y ranking.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67900" y="6172200"/>
            <a:ext cx="18097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2563EB"/>
                </a:solidFill>
                <a:latin typeface="JetBrains Mono"/>
              </a:rPr>
              <a:t>MAX_REVISIONES = 1</a:t>
            </a:r>
          </a:p>
        </p:txBody>
      </p:sp>
      <p:sp>
        <p:nvSpPr>
          <p:cNvPr id="9" name="Callout banner"/>
          <p:cNvSpPr/>
          <p:nvPr/>
        </p:nvSpPr>
        <p:spPr>
          <a:xfrm>
            <a:off x="609905" y="5230368"/>
            <a:ext cx="10972800" cy="658368"/>
          </a:xfrm>
          <a:prstGeom prst="roundRect">
            <a:avLst>
              <a:gd name="adj" fmla="val 2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Banner text"/>
          <p:cNvSpPr txBox="1"/>
          <p:nvPr/>
        </p:nvSpPr>
        <p:spPr>
          <a:xfrm>
            <a:off x="841248" y="5230368"/>
            <a:ext cx="10515600" cy="6583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300" b="1" i="0" u="none">
                <a:solidFill>
                  <a:srgbClr val="1E3A8A"/>
                </a:solidFill>
                <a:latin typeface="DM Sans"/>
              </a:rPr>
              <a:t xml:space="preserve">Por qué 4 agentes: </a:t>
            </a:r>
            <a:r>
              <a:rPr sz="1300" b="0" i="0" u="none">
                <a:solidFill>
                  <a:srgbClr val="1E3A8A"/>
                </a:solidFill>
                <a:latin typeface="DM Sans"/>
              </a:rPr>
              <a:t>diagnóstico, planificación, evaluación y decisión son roles distintos. Separar Planificador y Evaluador reduce el sesgo de autoevaluación; un 5.º agente no aportaría un rol nuevo.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262187"/>
            <a:ext cx="5295900" cy="3493008"/>
          </a:xfrm>
          <a:prstGeom prst="roundRect">
            <a:avLst>
              <a:gd name="adj" fmla="val 4664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86500" y="1947862"/>
            <a:ext cx="5295900" cy="3895725"/>
          </a:xfrm>
          <a:prstGeom prst="roundRect">
            <a:avLst>
              <a:gd name="adj" fmla="val 3911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23925" y="3671887"/>
            <a:ext cx="4667250" cy="495300"/>
          </a:xfrm>
          <a:prstGeom prst="roundRect">
            <a:avLst>
              <a:gd name="adj" fmla="val 1923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925" y="2605087"/>
            <a:ext cx="171450" cy="2286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0825" y="2290762"/>
            <a:ext cx="200025" cy="228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2563EB"/>
                </a:solidFill>
                <a:latin typeface="JetBrains Mono"/>
              </a:rPr>
              <a:t>03 · IMPLEMENTACIÓN EN GROQ &amp; FUNCIONES PYTHON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8187" y="1123950"/>
            <a:ext cx="7700826" cy="41549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 dirty="0" err="1">
                <a:solidFill>
                  <a:srgbClr val="0F172A"/>
                </a:solidFill>
                <a:latin typeface="Space Grotesk"/>
              </a:rPr>
              <a:t>Fórmulas</a:t>
            </a:r>
            <a:r>
              <a:rPr sz="2700" b="1" i="0" u="none" dirty="0">
                <a:solidFill>
                  <a:srgbClr val="0F172A"/>
                </a:solidFill>
                <a:latin typeface="Space Grotesk"/>
              </a:rPr>
              <a:t> </a:t>
            </a:r>
            <a:r>
              <a:rPr sz="2700" b="1" i="0" u="none" dirty="0" err="1">
                <a:solidFill>
                  <a:srgbClr val="0F172A"/>
                </a:solidFill>
                <a:latin typeface="Space Grotesk"/>
              </a:rPr>
              <a:t>Deterministas</a:t>
            </a:r>
            <a:r>
              <a:rPr sz="2700" b="1" i="0" u="none" dirty="0">
                <a:solidFill>
                  <a:srgbClr val="0F172A"/>
                </a:solidFill>
                <a:latin typeface="Space Grotesk"/>
              </a:rPr>
              <a:t> y </a:t>
            </a:r>
            <a:r>
              <a:rPr lang="es-ES" sz="2700" b="1" i="0" u="none" dirty="0" err="1" smtClean="0">
                <a:solidFill>
                  <a:srgbClr val="0F172A"/>
                </a:solidFill>
                <a:latin typeface="Space Grotesk"/>
              </a:rPr>
              <a:t>Gestion</a:t>
            </a:r>
            <a:r>
              <a:rPr sz="2700" b="1" i="0" u="none" dirty="0" smtClean="0">
                <a:solidFill>
                  <a:srgbClr val="0F172A"/>
                </a:solidFill>
                <a:latin typeface="Space Grotesk"/>
              </a:rPr>
              <a:t> </a:t>
            </a:r>
            <a:r>
              <a:rPr sz="2700" b="1" i="0" u="none" dirty="0">
                <a:solidFill>
                  <a:srgbClr val="0F172A"/>
                </a:solidFill>
                <a:latin typeface="Space Grotesk"/>
              </a:rPr>
              <a:t>de API Keys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925" y="2576512"/>
            <a:ext cx="6125765" cy="295275"/>
          </a:xfrm>
          <a:prstGeom prst="rect">
            <a:avLst/>
          </a:prstGeom>
          <a:noFill/>
        </p:spPr>
        <p:txBody>
          <a:bodyPr wrap="none" lIns="26670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0F172A"/>
                </a:solidFill>
                <a:latin typeface="Space Grotesk"/>
              </a:rPr>
              <a:t>Cálculo Determinista en Tools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925" y="3043237"/>
            <a:ext cx="47625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334155"/>
                </a:solidFill>
                <a:latin typeface="DM Sans"/>
              </a:rPr>
              <a:t>Los LLM no calculan a mano: delegan la aritmética a Python y solo razonan sobre resultados.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00825" y="2262187"/>
            <a:ext cx="5591175" cy="295275"/>
          </a:xfrm>
          <a:prstGeom prst="rect">
            <a:avLst/>
          </a:prstGeom>
          <a:noFill/>
        </p:spPr>
        <p:txBody>
          <a:bodyPr wrap="none" lIns="295275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0F172A"/>
                </a:solidFill>
                <a:latin typeface="Space Grotesk"/>
              </a:rPr>
              <a:t>Gestión de Cuota en Groq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0825" y="2728912"/>
            <a:ext cx="47625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334155"/>
                </a:solidFill>
                <a:latin typeface="DM Sans"/>
              </a:rPr>
              <a:t>El límite TPM en Groq es por modelo y cuenta; por eso cada agente usa su propia key.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6325" y="3824287"/>
            <a:ext cx="5453062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38BDF8"/>
                </a:solidFill>
                <a:latin typeface="JetBrains Mono"/>
              </a:rPr>
              <a:t>Horas = Cr × 1.5 × F_dif × F_urg × F_pri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925" y="4640389"/>
            <a:ext cx="5834062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1E293B"/>
                </a:solidFill>
                <a:latin typeface="DM Sans"/>
              </a:rPr>
              <a:t>Factibilidad (35%):</a:t>
            </a:r>
            <a:r>
              <a:rPr sz="1350" b="0" i="0" u="none">
                <a:solidFill>
                  <a:srgbClr val="1E293B"/>
                </a:solidFill>
                <a:latin typeface="DM Sans"/>
              </a:rPr>
              <a:t> Tope diario y máx. 3h/sesión.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925" y="4964239"/>
            <a:ext cx="5834062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1E293B"/>
                </a:solidFill>
                <a:latin typeface="DM Sans"/>
              </a:rPr>
              <a:t>Cobertura (30%):</a:t>
            </a:r>
            <a:r>
              <a:rPr sz="1350" b="0" i="0" u="none">
                <a:solidFill>
                  <a:srgbClr val="1E293B"/>
                </a:solidFill>
                <a:latin typeface="DM Sans"/>
              </a:rPr>
              <a:t> 70% curso prioritario + 30% todos.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925" y="5288089"/>
            <a:ext cx="5834062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1E293B"/>
                </a:solidFill>
                <a:latin typeface="DM Sans"/>
              </a:rPr>
              <a:t>Balance (20%) y Sobrecarga (15%):</a:t>
            </a:r>
            <a:r>
              <a:rPr sz="1350" b="0" i="0" u="none">
                <a:solidFill>
                  <a:srgbClr val="1E293B"/>
                </a:solidFill>
                <a:latin typeface="DM Sans"/>
              </a:rPr>
              <a:t> Penaliza &gt;90% uso.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00825" y="3357562"/>
            <a:ext cx="47625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1E293B"/>
                </a:solidFill>
                <a:latin typeface="DM Sans"/>
              </a:rPr>
              <a:t>Planificador:</a:t>
            </a:r>
            <a:r>
              <a:rPr sz="1350" b="0" i="0" u="none">
                <a:solidFill>
                  <a:srgbClr val="1E293B"/>
                </a:solidFill>
                <a:latin typeface="DM Sans"/>
              </a:rPr>
              <a:t> openai/gpt-oss-120b (máximo razonamiento estructurado).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0825" y="3929062"/>
            <a:ext cx="47625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1E293B"/>
                </a:solidFill>
                <a:latin typeface="DM Sans"/>
              </a:rPr>
              <a:t>Evaluador:</a:t>
            </a:r>
            <a:r>
              <a:rPr sz="1350" b="0" i="0" u="none">
                <a:solidFill>
                  <a:srgbClr val="1E293B"/>
                </a:solidFill>
                <a:latin typeface="DM Sans"/>
              </a:rPr>
              <a:t> qwen/qwen3.8-27b (invocación paralela de tools).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825" y="4500562"/>
            <a:ext cx="47625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1E293B"/>
                </a:solidFill>
                <a:latin typeface="DM Sans"/>
              </a:rPr>
              <a:t>Analista y Decisor:</a:t>
            </a:r>
            <a:r>
              <a:rPr sz="1350" b="0" i="0" u="none">
                <a:solidFill>
                  <a:srgbClr val="1E293B"/>
                </a:solidFill>
                <a:latin typeface="DM Sans"/>
              </a:rPr>
              <a:t> openai/gpt-oss-20b (baja latencia).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825" y="5072062"/>
            <a:ext cx="47625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1E293B"/>
                </a:solidFill>
                <a:latin typeface="DM Sans"/>
              </a:rPr>
              <a:t>Respaldo:</a:t>
            </a:r>
            <a:r>
              <a:rPr sz="1350" b="0" i="0" u="none">
                <a:solidFill>
                  <a:srgbClr val="1E293B"/>
                </a:solidFill>
                <a:latin typeface="DM Sans"/>
              </a:rPr>
              <a:t xml:space="preserve"> ModelFallbackMiddleware cambia de modelo ante error 429.</a:t>
            </a:r>
          </a:p>
        </p:txBody>
      </p:sp>
      <p:sp>
        <p:nvSpPr>
          <p:cNvPr id="21" name="Caption pesos"/>
          <p:cNvSpPr txBox="1"/>
          <p:nvPr/>
        </p:nvSpPr>
        <p:spPr>
          <a:xfrm>
            <a:off x="923544" y="4334256"/>
            <a:ext cx="466344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50" b="0" i="0" u="none">
                <a:solidFill>
                  <a:srgbClr val="64748B"/>
                </a:solidFill>
                <a:latin typeface="DM Sans"/>
              </a:rPr>
              <a:t>Peso de cada criterio en el puntaje final (0–100):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09630" y="457200"/>
            <a:ext cx="9509760" cy="1714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es-PE" sz="1050" b="1" i="0" u="none" dirty="0">
                <a:solidFill>
                  <a:srgbClr val="2563EB"/>
                </a:solidFill>
                <a:latin typeface="JetBrains Mono"/>
              </a:rPr>
              <a:t>04 · RESULTADOS INTERMEDIOS · CASO DE PRUEBA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09630" y="81409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2700" b="1" i="0" u="none" dirty="0">
                <a:solidFill>
                  <a:srgbClr val="0F172A"/>
                </a:solidFill>
                <a:latin typeface="Space Grotesk"/>
              </a:rPr>
              <a:t>El Caso Real: Input de Aaron Camacho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09630" y="137160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300" b="1" i="0" u="none" dirty="0">
                <a:solidFill>
                  <a:srgbClr val="475569"/>
                </a:solidFill>
                <a:latin typeface="DM Sans"/>
              </a:rPr>
              <a:t xml:space="preserve">Último ciclo de Ciencia de la Computación · </a:t>
            </a:r>
            <a:r>
              <a:rPr lang="es-PE" sz="1300" b="0" i="0" u="none" dirty="0">
                <a:solidFill>
                  <a:srgbClr val="475569"/>
                </a:solidFill>
                <a:latin typeface="DM Sans"/>
              </a:rPr>
              <a:t>trabaja full time de lunes a viernes y casi todo su tiempo libre está en el fin de semana</a:t>
            </a:r>
          </a:p>
        </p:txBody>
      </p:sp>
      <p:sp>
        <p:nvSpPr>
          <p:cNvPr id="5" name="Card 5"/>
          <p:cNvSpPr/>
          <p:nvPr/>
        </p:nvSpPr>
        <p:spPr>
          <a:xfrm>
            <a:off x="609630" y="1828800"/>
            <a:ext cx="5486400" cy="2514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76200" dist="19050" dir="5400000" algn="t" rotWithShape="0">
              <a:srgbClr val="0F172A">
                <a:alpha val="10000"/>
              </a:srgbClr>
            </a:outerShdw>
          </a:effectLst>
        </p:spPr>
        <p:txBody>
          <a:bodyPr rtlCol="0" lIns="0" tIns="0" rIns="0" bIns="0" anchor="ctr">
            <a:noAutofit/>
          </a:bodyPr>
          <a:lstStyle/>
          <a:p>
            <a:pPr algn="ctr"/>
            <a:endParaRPr lang="es-PE"/>
          </a:p>
        </p:txBody>
      </p:sp>
      <p:sp>
        <p:nvSpPr>
          <p:cNvPr id="6" name="TextBox 6"/>
          <p:cNvSpPr txBox="1"/>
          <p:nvPr/>
        </p:nvSpPr>
        <p:spPr>
          <a:xfrm>
            <a:off x="838230" y="2029968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050" b="1" i="0" u="none" dirty="0">
                <a:solidFill>
                  <a:srgbClr val="2563EB"/>
                </a:solidFill>
                <a:latin typeface="JetBrains Mono"/>
              </a:rPr>
              <a:t>INPUTS 1 Y 3 · CURSOS Y PRIORIDAD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38230" y="2359152"/>
            <a:ext cx="37947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400" b="1" i="0" u="none" dirty="0">
                <a:solidFill>
                  <a:srgbClr val="0F172A"/>
                </a:solidFill>
                <a:latin typeface="DM Sans"/>
              </a:rPr>
              <a:t>Proyecto Final de CC II (Tesis)</a:t>
            </a:r>
          </a:p>
        </p:txBody>
      </p:sp>
      <p:sp>
        <p:nvSpPr>
          <p:cNvPr id="8" name="Tag 8"/>
          <p:cNvSpPr/>
          <p:nvPr/>
        </p:nvSpPr>
        <p:spPr>
          <a:xfrm>
            <a:off x="4724430" y="2350008"/>
            <a:ext cx="1143000" cy="256032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txBody>
          <a:bodyPr rtlCol="0" lIns="0" tIns="0" rIns="0" bIns="0" anchor="ctr">
            <a:noAutofit/>
          </a:bodyPr>
          <a:lstStyle/>
          <a:p>
            <a:pPr algn="ctr"/>
            <a:r>
              <a:rPr lang="es-PE" sz="950" b="1" i="0" u="none" dirty="0">
                <a:solidFill>
                  <a:srgbClr val="1D4ED8"/>
                </a:solidFill>
                <a:latin typeface="JetBrains Mono"/>
              </a:rPr>
              <a:t>PRIORIDAD 1</a:t>
            </a:r>
          </a:p>
        </p:txBody>
      </p:sp>
      <p:sp>
        <p:nvSpPr>
          <p:cNvPr id="9" name="Dificultad 9"/>
          <p:cNvSpPr/>
          <p:nvPr/>
        </p:nvSpPr>
        <p:spPr>
          <a:xfrm>
            <a:off x="838230" y="271576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97316"/>
          </a:solidFill>
          <a:ln>
            <a:noFill/>
          </a:ln>
        </p:spPr>
        <p:txBody>
          <a:bodyPr/>
          <a:lstStyle/>
          <a:p>
            <a:endParaRPr lang="es-PE"/>
          </a:p>
        </p:txBody>
      </p:sp>
      <p:sp>
        <p:nvSpPr>
          <p:cNvPr id="10" name="Dificultad 10"/>
          <p:cNvSpPr/>
          <p:nvPr/>
        </p:nvSpPr>
        <p:spPr>
          <a:xfrm>
            <a:off x="993678" y="271576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97316"/>
          </a:solidFill>
          <a:ln>
            <a:noFill/>
          </a:ln>
        </p:spPr>
        <p:txBody>
          <a:bodyPr/>
          <a:lstStyle/>
          <a:p>
            <a:endParaRPr lang="es-PE"/>
          </a:p>
        </p:txBody>
      </p:sp>
      <p:sp>
        <p:nvSpPr>
          <p:cNvPr id="11" name="Dificultad 11"/>
          <p:cNvSpPr/>
          <p:nvPr/>
        </p:nvSpPr>
        <p:spPr>
          <a:xfrm>
            <a:off x="1149126" y="271576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97316"/>
          </a:solidFill>
          <a:ln>
            <a:noFill/>
          </a:ln>
        </p:spPr>
        <p:txBody>
          <a:bodyPr/>
          <a:lstStyle/>
          <a:p>
            <a:endParaRPr lang="es-PE"/>
          </a:p>
        </p:txBody>
      </p:sp>
      <p:sp>
        <p:nvSpPr>
          <p:cNvPr id="12" name="Dificultad 12"/>
          <p:cNvSpPr/>
          <p:nvPr/>
        </p:nvSpPr>
        <p:spPr>
          <a:xfrm>
            <a:off x="1304574" y="271576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97316"/>
          </a:solidFill>
          <a:ln>
            <a:noFill/>
          </a:ln>
        </p:spPr>
        <p:txBody>
          <a:bodyPr/>
          <a:lstStyle/>
          <a:p>
            <a:endParaRPr lang="es-PE"/>
          </a:p>
        </p:txBody>
      </p:sp>
      <p:sp>
        <p:nvSpPr>
          <p:cNvPr id="13" name="Dificultad 13"/>
          <p:cNvSpPr/>
          <p:nvPr/>
        </p:nvSpPr>
        <p:spPr>
          <a:xfrm>
            <a:off x="1460022" y="271576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97316"/>
          </a:solidFill>
          <a:ln>
            <a:noFill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Box 14"/>
          <p:cNvSpPr txBox="1"/>
          <p:nvPr/>
        </p:nvSpPr>
        <p:spPr>
          <a:xfrm>
            <a:off x="1706910" y="2670048"/>
            <a:ext cx="41605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200" b="1" i="0" u="none" dirty="0">
                <a:solidFill>
                  <a:srgbClr val="334155"/>
                </a:solidFill>
                <a:latin typeface="DM Sans"/>
              </a:rPr>
              <a:t>Dificultad 5/5</a:t>
            </a:r>
            <a:r>
              <a:rPr lang="es-PE" sz="1200" b="0" i="0" u="none" dirty="0">
                <a:solidFill>
                  <a:srgbClr val="334155"/>
                </a:solidFill>
                <a:latin typeface="DM Sans"/>
              </a:rPr>
              <a:t xml:space="preserve">  ·  4 créditos · evaluación en 40 días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38230" y="2999232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400" b="1" i="0" u="none" dirty="0">
                <a:solidFill>
                  <a:srgbClr val="0F172A"/>
                </a:solidFill>
                <a:latin typeface="DM Sans"/>
              </a:rPr>
              <a:t>3D Graphics Programming</a:t>
            </a:r>
          </a:p>
        </p:txBody>
      </p:sp>
      <p:sp>
        <p:nvSpPr>
          <p:cNvPr id="16" name="Dificultad 16"/>
          <p:cNvSpPr/>
          <p:nvPr/>
        </p:nvSpPr>
        <p:spPr>
          <a:xfrm>
            <a:off x="838230" y="335584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97316"/>
          </a:solidFill>
          <a:ln>
            <a:noFill/>
          </a:ln>
        </p:spPr>
        <p:txBody>
          <a:bodyPr/>
          <a:lstStyle/>
          <a:p>
            <a:endParaRPr lang="es-PE"/>
          </a:p>
        </p:txBody>
      </p:sp>
      <p:sp>
        <p:nvSpPr>
          <p:cNvPr id="17" name="Dificultad 17"/>
          <p:cNvSpPr/>
          <p:nvPr/>
        </p:nvSpPr>
        <p:spPr>
          <a:xfrm>
            <a:off x="993678" y="335584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97316"/>
          </a:solidFill>
          <a:ln>
            <a:noFill/>
          </a:ln>
        </p:spPr>
        <p:txBody>
          <a:bodyPr/>
          <a:lstStyle/>
          <a:p>
            <a:endParaRPr lang="es-PE"/>
          </a:p>
        </p:txBody>
      </p:sp>
      <p:sp>
        <p:nvSpPr>
          <p:cNvPr id="18" name="Dificultad 18"/>
          <p:cNvSpPr/>
          <p:nvPr/>
        </p:nvSpPr>
        <p:spPr>
          <a:xfrm>
            <a:off x="1149126" y="335584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97316"/>
          </a:solidFill>
          <a:ln>
            <a:noFill/>
          </a:ln>
        </p:spPr>
        <p:txBody>
          <a:bodyPr/>
          <a:lstStyle/>
          <a:p>
            <a:endParaRPr lang="es-PE"/>
          </a:p>
        </p:txBody>
      </p:sp>
      <p:sp>
        <p:nvSpPr>
          <p:cNvPr id="19" name="Dificultad 19"/>
          <p:cNvSpPr/>
          <p:nvPr/>
        </p:nvSpPr>
        <p:spPr>
          <a:xfrm>
            <a:off x="1304574" y="335584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s-PE"/>
          </a:p>
        </p:txBody>
      </p:sp>
      <p:sp>
        <p:nvSpPr>
          <p:cNvPr id="20" name="Dificultad 20"/>
          <p:cNvSpPr/>
          <p:nvPr/>
        </p:nvSpPr>
        <p:spPr>
          <a:xfrm>
            <a:off x="1460022" y="335584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Box 21"/>
          <p:cNvSpPr txBox="1"/>
          <p:nvPr/>
        </p:nvSpPr>
        <p:spPr>
          <a:xfrm>
            <a:off x="1706910" y="3310128"/>
            <a:ext cx="41605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200" b="1" i="0" u="none" dirty="0">
                <a:solidFill>
                  <a:srgbClr val="334155"/>
                </a:solidFill>
                <a:latin typeface="DM Sans"/>
              </a:rPr>
              <a:t>Dificultad 3/5</a:t>
            </a:r>
            <a:r>
              <a:rPr lang="es-PE" sz="1200" b="0" i="0" u="none" dirty="0">
                <a:solidFill>
                  <a:srgbClr val="334155"/>
                </a:solidFill>
                <a:latin typeface="DM Sans"/>
              </a:rPr>
              <a:t xml:space="preserve">  ·  4 créditos · evaluación en 41 días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38230" y="3639312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400" b="1" i="0" u="none" dirty="0">
                <a:solidFill>
                  <a:srgbClr val="0F172A"/>
                </a:solidFill>
                <a:latin typeface="DM Sans"/>
              </a:rPr>
              <a:t>Planificación y Toma de Decisiones en IA</a:t>
            </a:r>
          </a:p>
        </p:txBody>
      </p:sp>
      <p:sp>
        <p:nvSpPr>
          <p:cNvPr id="23" name="Dificultad 23"/>
          <p:cNvSpPr/>
          <p:nvPr/>
        </p:nvSpPr>
        <p:spPr>
          <a:xfrm>
            <a:off x="838230" y="399592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97316"/>
          </a:solidFill>
          <a:ln>
            <a:noFill/>
          </a:ln>
        </p:spPr>
        <p:txBody>
          <a:bodyPr/>
          <a:lstStyle/>
          <a:p>
            <a:endParaRPr lang="es-PE"/>
          </a:p>
        </p:txBody>
      </p:sp>
      <p:sp>
        <p:nvSpPr>
          <p:cNvPr id="24" name="Dificultad 24"/>
          <p:cNvSpPr/>
          <p:nvPr/>
        </p:nvSpPr>
        <p:spPr>
          <a:xfrm>
            <a:off x="993678" y="399592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s-PE"/>
          </a:p>
        </p:txBody>
      </p:sp>
      <p:sp>
        <p:nvSpPr>
          <p:cNvPr id="25" name="Dificultad 25"/>
          <p:cNvSpPr/>
          <p:nvPr/>
        </p:nvSpPr>
        <p:spPr>
          <a:xfrm>
            <a:off x="1149126" y="399592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s-PE"/>
          </a:p>
        </p:txBody>
      </p:sp>
      <p:sp>
        <p:nvSpPr>
          <p:cNvPr id="26" name="Dificultad 26"/>
          <p:cNvSpPr/>
          <p:nvPr/>
        </p:nvSpPr>
        <p:spPr>
          <a:xfrm>
            <a:off x="1304574" y="399592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s-PE"/>
          </a:p>
        </p:txBody>
      </p:sp>
      <p:sp>
        <p:nvSpPr>
          <p:cNvPr id="27" name="Dificultad 27"/>
          <p:cNvSpPr/>
          <p:nvPr/>
        </p:nvSpPr>
        <p:spPr>
          <a:xfrm>
            <a:off x="1460022" y="399592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s-PE"/>
          </a:p>
        </p:txBody>
      </p:sp>
      <p:sp>
        <p:nvSpPr>
          <p:cNvPr id="28" name="TextBox 28"/>
          <p:cNvSpPr txBox="1"/>
          <p:nvPr/>
        </p:nvSpPr>
        <p:spPr>
          <a:xfrm>
            <a:off x="1706910" y="3950208"/>
            <a:ext cx="41605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200" b="1" i="0" u="none" dirty="0">
                <a:solidFill>
                  <a:srgbClr val="334155"/>
                </a:solidFill>
                <a:latin typeface="DM Sans"/>
              </a:rPr>
              <a:t>Dificultad 1/5</a:t>
            </a:r>
            <a:r>
              <a:rPr lang="es-PE" sz="1200" b="0" i="0" u="none" dirty="0">
                <a:solidFill>
                  <a:srgbClr val="334155"/>
                </a:solidFill>
                <a:latin typeface="DM Sans"/>
              </a:rPr>
              <a:t xml:space="preserve">  ·  4 créditos · evaluación en 40 días</a:t>
            </a:r>
          </a:p>
        </p:txBody>
      </p:sp>
      <p:sp>
        <p:nvSpPr>
          <p:cNvPr id="29" name="Card 29"/>
          <p:cNvSpPr/>
          <p:nvPr/>
        </p:nvSpPr>
        <p:spPr>
          <a:xfrm>
            <a:off x="6370350" y="1828800"/>
            <a:ext cx="5212080" cy="2514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76200" dist="19050" dir="5400000" algn="t" rotWithShape="0">
              <a:srgbClr val="0F172A">
                <a:alpha val="10000"/>
              </a:srgbClr>
            </a:outerShdw>
          </a:effectLst>
        </p:spPr>
        <p:txBody>
          <a:bodyPr rtlCol="0" lIns="0" tIns="0" rIns="0" bIns="0" anchor="ctr">
            <a:noAutofit/>
          </a:bodyPr>
          <a:lstStyle/>
          <a:p>
            <a:pPr algn="ctr"/>
            <a:endParaRPr lang="es-PE"/>
          </a:p>
        </p:txBody>
      </p:sp>
      <p:sp>
        <p:nvSpPr>
          <p:cNvPr id="30" name="TextBox 30"/>
          <p:cNvSpPr txBox="1"/>
          <p:nvPr/>
        </p:nvSpPr>
        <p:spPr>
          <a:xfrm>
            <a:off x="6598950" y="2029968"/>
            <a:ext cx="47548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050" b="1" i="0" u="none" dirty="0">
                <a:solidFill>
                  <a:srgbClr val="2563EB"/>
                </a:solidFill>
                <a:latin typeface="JetBrains Mono"/>
              </a:rPr>
              <a:t>INPUT 2 · DISPONIBILIDAD</a:t>
            </a:r>
            <a:r>
              <a:rPr lang="es-PE" sz="1050" b="1" i="0" u="none" dirty="0">
                <a:solidFill>
                  <a:srgbClr val="0F172A"/>
                </a:solidFill>
                <a:latin typeface="JetBrains Mono"/>
              </a:rPr>
              <a:t xml:space="preserve">   42 h libres/sem</a:t>
            </a:r>
          </a:p>
        </p:txBody>
      </p:sp>
      <p:sp>
        <p:nvSpPr>
          <p:cNvPr id="31" name="Card 31"/>
          <p:cNvSpPr/>
          <p:nvPr/>
        </p:nvSpPr>
        <p:spPr>
          <a:xfrm>
            <a:off x="609630" y="4572000"/>
            <a:ext cx="548640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76200" dist="19050" dir="5400000" algn="t" rotWithShape="0">
              <a:srgbClr val="0F172A">
                <a:alpha val="10000"/>
              </a:srgbClr>
            </a:outerShdw>
          </a:effectLst>
        </p:spPr>
        <p:txBody>
          <a:bodyPr rtlCol="0" lIns="0" tIns="0" rIns="0" bIns="0" anchor="ctr">
            <a:noAutofit/>
          </a:bodyPr>
          <a:lstStyle/>
          <a:p>
            <a:pPr algn="ctr"/>
            <a:endParaRPr lang="es-PE"/>
          </a:p>
        </p:txBody>
      </p:sp>
      <p:sp>
        <p:nvSpPr>
          <p:cNvPr id="32" name="TextBox 32"/>
          <p:cNvSpPr txBox="1"/>
          <p:nvPr/>
        </p:nvSpPr>
        <p:spPr>
          <a:xfrm>
            <a:off x="838230" y="4773168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050" b="1" i="0" u="none" dirty="0">
                <a:solidFill>
                  <a:srgbClr val="2563EB"/>
                </a:solidFill>
                <a:latin typeface="JetBrains Mono"/>
              </a:rPr>
              <a:t>INPUT 4 · RESTRICCIONES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838230" y="5047488"/>
            <a:ext cx="5029200" cy="1051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lang="es-PE" sz="1300" b="1" i="0" u="none" dirty="0">
                <a:solidFill>
                  <a:srgbClr val="0F172A"/>
                </a:solidFill>
                <a:latin typeface="DM Sans"/>
              </a:rPr>
              <a:t xml:space="preserve">Trabajo full time </a:t>
            </a:r>
            <a:r>
              <a:rPr lang="es-PE" sz="1300" b="0" i="0" u="none" dirty="0">
                <a:solidFill>
                  <a:srgbClr val="334155"/>
                </a:solidFill>
                <a:latin typeface="DM Sans"/>
              </a:rPr>
              <a:t>en días laborales</a:t>
            </a:r>
          </a:p>
          <a:p>
            <a:pPr algn="l">
              <a:spcAft>
                <a:spcPts val="300"/>
              </a:spcAft>
            </a:pPr>
            <a:r>
              <a:rPr lang="es-PE" sz="1300" b="1" i="0" u="none" dirty="0">
                <a:solidFill>
                  <a:srgbClr val="0F172A"/>
                </a:solidFill>
                <a:latin typeface="DM Sans"/>
              </a:rPr>
              <a:t xml:space="preserve">Inglés </a:t>
            </a:r>
            <a:r>
              <a:rPr lang="es-PE" sz="1300" b="0" i="0" u="none" dirty="0">
                <a:solidFill>
                  <a:srgbClr val="334155"/>
                </a:solidFill>
                <a:latin typeface="DM Sans"/>
              </a:rPr>
              <a:t>de 8:55 a 10:25, de lunes a viernes</a:t>
            </a:r>
          </a:p>
          <a:p>
            <a:pPr algn="l">
              <a:spcAft>
                <a:spcPts val="200"/>
              </a:spcAft>
            </a:pPr>
            <a:r>
              <a:rPr lang="es-PE" sz="1300" b="1" i="0" u="none" dirty="0">
                <a:solidFill>
                  <a:srgbClr val="0F172A"/>
                </a:solidFill>
                <a:latin typeface="DM Sans"/>
              </a:rPr>
              <a:t xml:space="preserve">Un día de descanso </a:t>
            </a:r>
            <a:r>
              <a:rPr lang="es-PE" sz="1300" b="0" i="0" u="none" dirty="0">
                <a:solidFill>
                  <a:srgbClr val="334155"/>
                </a:solidFill>
                <a:latin typeface="DM Sans"/>
              </a:rPr>
              <a:t>(usualmente sábado)</a:t>
            </a:r>
          </a:p>
          <a:p>
            <a:pPr algn="l"/>
            <a:r>
              <a:rPr lang="es-PE" sz="1100" b="1" i="0" u="none" dirty="0">
                <a:solidFill>
                  <a:srgbClr val="B45309"/>
                </a:solidFill>
                <a:latin typeface="DM Sans"/>
              </a:rPr>
              <a:t>⚠ En tensión con las 15 h libres que declaró ese mismo día</a:t>
            </a:r>
          </a:p>
        </p:txBody>
      </p:sp>
      <p:sp>
        <p:nvSpPr>
          <p:cNvPr id="34" name="Card 34"/>
          <p:cNvSpPr/>
          <p:nvPr/>
        </p:nvSpPr>
        <p:spPr>
          <a:xfrm>
            <a:off x="6370350" y="4572000"/>
            <a:ext cx="5212080" cy="16002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>
            <a:outerShdw blurRad="76200" dist="19050" dir="5400000" algn="t" rotWithShape="0">
              <a:srgbClr val="0F172A">
                <a:alpha val="10000"/>
              </a:srgbClr>
            </a:outerShdw>
          </a:effectLst>
        </p:spPr>
        <p:txBody>
          <a:bodyPr rtlCol="0" lIns="0" tIns="0" rIns="0" bIns="0" anchor="ctr">
            <a:noAutofit/>
          </a:bodyPr>
          <a:lstStyle/>
          <a:p>
            <a:pPr algn="ctr"/>
            <a:endParaRPr lang="es-PE"/>
          </a:p>
        </p:txBody>
      </p:sp>
      <p:sp>
        <p:nvSpPr>
          <p:cNvPr id="35" name="TextBox 35"/>
          <p:cNvSpPr txBox="1"/>
          <p:nvPr/>
        </p:nvSpPr>
        <p:spPr>
          <a:xfrm>
            <a:off x="6598950" y="4773168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050" b="1" i="0" u="none" dirty="0">
                <a:solidFill>
                  <a:srgbClr val="60A5FA"/>
                </a:solidFill>
                <a:latin typeface="JetBrains Mono"/>
              </a:rPr>
              <a:t>INPUT 5 · META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6598950" y="5074920"/>
            <a:ext cx="4754880" cy="1005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lang="es-PE" sz="2000" b="1" i="0" u="none" dirty="0">
                <a:solidFill>
                  <a:srgbClr val="F8FAFC"/>
                </a:solidFill>
                <a:latin typeface="Space Grotesk"/>
              </a:rPr>
              <a:t>Egresar en diciembre</a:t>
            </a:r>
          </a:p>
          <a:p>
            <a:pPr algn="l"/>
            <a:r>
              <a:rPr lang="es-PE" sz="1300" b="0" i="0" u="none" dirty="0">
                <a:solidFill>
                  <a:srgbClr val="CBD5E1"/>
                </a:solidFill>
                <a:latin typeface="DM Sans"/>
              </a:rPr>
              <a:t xml:space="preserve">Aprobar los 3 cursos para la 1.ª semana de diciembre con promedio de </a:t>
            </a:r>
            <a:r>
              <a:rPr lang="es-PE" sz="1300" b="1" i="0" u="none" dirty="0">
                <a:solidFill>
                  <a:srgbClr val="4ADE80"/>
                </a:solidFill>
                <a:latin typeface="DM Sans"/>
              </a:rPr>
              <a:t>14 o más</a:t>
            </a:r>
          </a:p>
        </p:txBody>
      </p:sp>
      <p:graphicFrame>
        <p:nvGraphicFramePr>
          <p:cNvPr id="37" name="Disponibilidad por día"/>
          <p:cNvGraphicFramePr>
            <a:graphicFrameLocks noGrp="1"/>
          </p:cNvGraphicFramePr>
          <p:nvPr/>
        </p:nvGraphicFramePr>
        <p:xfrm>
          <a:off x="6507510" y="2286000"/>
          <a:ext cx="4937760" cy="1965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09630" y="457200"/>
            <a:ext cx="9509760" cy="1714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es-PE" sz="1050" b="1" i="0" u="none">
                <a:solidFill>
                  <a:srgbClr val="2563EB"/>
                </a:solidFill>
                <a:latin typeface="JetBrains Mono"/>
              </a:rPr>
              <a:t>05 · RESULTADOS INTERMEDIOS · PLANES Y EVALUACIÓN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09630" y="81409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2700" b="1" i="0" u="none">
                <a:solidFill>
                  <a:srgbClr val="0F172A"/>
                </a:solidFill>
                <a:latin typeface="Space Grotesk"/>
              </a:rPr>
              <a:t>Planes Propuestos y su Evaluación Determinista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09630" y="137160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300" b="1" i="0" u="none" dirty="0">
                <a:solidFill>
                  <a:srgbClr val="475569"/>
                </a:solidFill>
                <a:latin typeface="DM Sans"/>
              </a:rPr>
              <a:t xml:space="preserve">Mínimo requerido (tool del Analista): </a:t>
            </a:r>
            <a:r>
              <a:rPr lang="es-PE" sz="1300" b="0" i="0" u="none" dirty="0">
                <a:solidFill>
                  <a:srgbClr val="475569"/>
                </a:solidFill>
                <a:latin typeface="DM Sans"/>
              </a:rPr>
              <a:t>Tesis 10.8 h · 3D Graphics 6.0 h · Planificación IA 4.8 h  —  Libres: 42 h (Vie 0 h, Sáb y Dom 15 h c/u)</a:t>
            </a:r>
          </a:p>
        </p:txBody>
      </p:sp>
      <p:sp>
        <p:nvSpPr>
          <p:cNvPr id="5" name="Card 5"/>
          <p:cNvSpPr/>
          <p:nvPr/>
        </p:nvSpPr>
        <p:spPr>
          <a:xfrm>
            <a:off x="609630" y="1755648"/>
            <a:ext cx="3474720" cy="3977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76200" dist="19050" dir="5400000" algn="t" rotWithShape="0">
              <a:srgbClr val="0F172A">
                <a:alpha val="10000"/>
              </a:srgbClr>
            </a:outerShdw>
          </a:effectLst>
        </p:spPr>
        <p:txBody>
          <a:bodyPr rtlCol="0" lIns="0" tIns="0" rIns="0" bIns="0" anchor="ctr">
            <a:noAutofit/>
          </a:bodyPr>
          <a:lstStyle/>
          <a:p>
            <a:pPr algn="ctr"/>
            <a:endParaRPr lang="es-PE"/>
          </a:p>
        </p:txBody>
      </p:sp>
      <p:sp>
        <p:nvSpPr>
          <p:cNvPr id="6" name="TextBox 6"/>
          <p:cNvSpPr txBox="1"/>
          <p:nvPr/>
        </p:nvSpPr>
        <p:spPr>
          <a:xfrm>
            <a:off x="838230" y="1938528"/>
            <a:ext cx="30175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050" b="1" i="0" u="none" dirty="0">
                <a:solidFill>
                  <a:srgbClr val="2563EB"/>
                </a:solidFill>
                <a:latin typeface="JetBrains Mono"/>
              </a:rPr>
              <a:t>PLAN 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38230" y="2157984"/>
            <a:ext cx="301752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800" b="1" i="0" u="none" dirty="0">
                <a:solidFill>
                  <a:srgbClr val="0F172A"/>
                </a:solidFill>
                <a:latin typeface="Space Grotesk"/>
              </a:rPr>
              <a:t>Intensivo crítico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38230" y="2523744"/>
            <a:ext cx="301752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100" b="0" i="1" u="none" dirty="0">
                <a:solidFill>
                  <a:srgbClr val="475569"/>
                </a:solidFill>
                <a:latin typeface="DM Sans"/>
              </a:rPr>
              <a:t>Todo el tiempo libre, foco en la Tesis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838230" y="2816352"/>
            <a:ext cx="301752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lang="es-PE" sz="1350" b="1" i="0" u="none" dirty="0">
                <a:solidFill>
                  <a:srgbClr val="0F172A"/>
                </a:solidFill>
                <a:latin typeface="DM Sans"/>
              </a:rPr>
              <a:t>Tesis</a:t>
            </a:r>
            <a:r>
              <a:rPr lang="es-PE" sz="1350" b="1" i="0" u="none" dirty="0">
                <a:solidFill>
                  <a:srgbClr val="2563EB"/>
                </a:solidFill>
                <a:latin typeface="DM Sans"/>
              </a:rPr>
              <a:t xml:space="preserve">  ·  18 h</a:t>
            </a:r>
          </a:p>
          <a:p>
            <a:pPr algn="l"/>
            <a:r>
              <a:rPr lang="es-PE" sz="1200" b="0" i="0" u="none" dirty="0">
                <a:solidFill>
                  <a:srgbClr val="334155"/>
                </a:solidFill>
                <a:latin typeface="DM Sans"/>
              </a:rPr>
              <a:t>Lun y Mar 3 h · Sáb y Dom 6 h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38230" y="3401568"/>
            <a:ext cx="301752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lang="es-PE" sz="1350" b="1" i="0" u="none" dirty="0">
                <a:solidFill>
                  <a:srgbClr val="0F172A"/>
                </a:solidFill>
                <a:latin typeface="DM Sans"/>
              </a:rPr>
              <a:t>3D Graphics</a:t>
            </a:r>
            <a:r>
              <a:rPr lang="es-PE" sz="1350" b="1" i="0" u="none" dirty="0">
                <a:solidFill>
                  <a:srgbClr val="2563EB"/>
                </a:solidFill>
                <a:latin typeface="DM Sans"/>
              </a:rPr>
              <a:t xml:space="preserve">  ·  8 h</a:t>
            </a:r>
          </a:p>
          <a:p>
            <a:pPr algn="l"/>
            <a:r>
              <a:rPr lang="es-PE" sz="1200" b="0" i="0" u="none" dirty="0">
                <a:solidFill>
                  <a:srgbClr val="334155"/>
                </a:solidFill>
                <a:latin typeface="DM Sans"/>
              </a:rPr>
              <a:t>Mié 2 h · Sáb y Dom 3 h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38230" y="3986784"/>
            <a:ext cx="301752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lang="es-PE" sz="1350" b="1" i="0" u="none" dirty="0">
                <a:solidFill>
                  <a:srgbClr val="0F172A"/>
                </a:solidFill>
                <a:latin typeface="DM Sans"/>
              </a:rPr>
              <a:t>Planificación IA</a:t>
            </a:r>
            <a:r>
              <a:rPr lang="es-PE" sz="1350" b="1" i="0" u="none" dirty="0">
                <a:solidFill>
                  <a:srgbClr val="2563EB"/>
                </a:solidFill>
                <a:latin typeface="DM Sans"/>
              </a:rPr>
              <a:t xml:space="preserve">  ·  8 h</a:t>
            </a:r>
          </a:p>
          <a:p>
            <a:pPr algn="l"/>
            <a:r>
              <a:rPr lang="es-PE" sz="1200" b="0" i="0" u="none" dirty="0">
                <a:solidFill>
                  <a:srgbClr val="334155"/>
                </a:solidFill>
                <a:latin typeface="DM Sans"/>
              </a:rPr>
              <a:t>Jue 2 h · Sáb y Dom 3 h</a:t>
            </a:r>
          </a:p>
        </p:txBody>
      </p:sp>
      <p:sp>
        <p:nvSpPr>
          <p:cNvPr id="12" name="Badge 12"/>
          <p:cNvSpPr/>
          <p:nvPr/>
        </p:nvSpPr>
        <p:spPr>
          <a:xfrm>
            <a:off x="838230" y="5276088"/>
            <a:ext cx="3017520" cy="329184"/>
          </a:xfrm>
          <a:prstGeom prst="roundRect">
            <a:avLst>
              <a:gd name="adj" fmla="val 50000"/>
            </a:avLst>
          </a:prstGeom>
          <a:solidFill>
            <a:srgbClr val="FEE2E2"/>
          </a:solidFill>
          <a:ln>
            <a:noFill/>
          </a:ln>
          <a:effectLst/>
        </p:spPr>
        <p:txBody>
          <a:bodyPr rtlCol="0" lIns="0" tIns="0" rIns="0" bIns="0" anchor="ctr">
            <a:noAutofit/>
          </a:bodyPr>
          <a:lstStyle/>
          <a:p>
            <a:pPr algn="ctr"/>
            <a:r>
              <a:rPr lang="es-PE" sz="1150" b="1" i="0" u="none">
                <a:solidFill>
                  <a:srgbClr val="B91C1C"/>
                </a:solidFill>
                <a:latin typeface="DM Sans"/>
              </a:rPr>
              <a:t>34 h · No factible: 2 bloques de 6 h</a:t>
            </a:r>
          </a:p>
        </p:txBody>
      </p:sp>
      <p:sp>
        <p:nvSpPr>
          <p:cNvPr id="13" name="Card 13"/>
          <p:cNvSpPr/>
          <p:nvPr/>
        </p:nvSpPr>
        <p:spPr>
          <a:xfrm>
            <a:off x="4358670" y="1755648"/>
            <a:ext cx="3474720" cy="3977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76200" dist="19050" dir="5400000" algn="t" rotWithShape="0">
              <a:srgbClr val="0F172A">
                <a:alpha val="10000"/>
              </a:srgbClr>
            </a:outerShdw>
          </a:effectLst>
        </p:spPr>
        <p:txBody>
          <a:bodyPr rtlCol="0" lIns="0" tIns="0" rIns="0" bIns="0" anchor="ctr">
            <a:noAutofit/>
          </a:bodyPr>
          <a:lstStyle/>
          <a:p>
            <a:pPr algn="ctr"/>
            <a:endParaRPr lang="es-PE"/>
          </a:p>
        </p:txBody>
      </p:sp>
      <p:sp>
        <p:nvSpPr>
          <p:cNvPr id="14" name="TextBox 14"/>
          <p:cNvSpPr txBox="1"/>
          <p:nvPr/>
        </p:nvSpPr>
        <p:spPr>
          <a:xfrm>
            <a:off x="4587270" y="1938528"/>
            <a:ext cx="30175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050" b="1" i="0" u="none" dirty="0">
                <a:solidFill>
                  <a:srgbClr val="2563EB"/>
                </a:solidFill>
                <a:latin typeface="JetBrains Mono"/>
              </a:rPr>
              <a:t>PLAN B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4587270" y="2157984"/>
            <a:ext cx="301752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800" b="1" i="0" u="none" dirty="0">
                <a:solidFill>
                  <a:srgbClr val="0F172A"/>
                </a:solidFill>
                <a:latin typeface="Space Grotesk"/>
              </a:rPr>
              <a:t>Equilibrado con colchón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587270" y="2523744"/>
            <a:ext cx="301752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100" b="0" i="1" u="none" dirty="0">
                <a:solidFill>
                  <a:srgbClr val="475569"/>
                </a:solidFill>
                <a:latin typeface="DM Sans"/>
              </a:rPr>
              <a:t>Repartir todos los días con margen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587270" y="2816352"/>
            <a:ext cx="301752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lang="es-PE" sz="1350" b="1" i="0" u="none" dirty="0">
                <a:solidFill>
                  <a:srgbClr val="0F172A"/>
                </a:solidFill>
                <a:latin typeface="DM Sans"/>
              </a:rPr>
              <a:t>Tesis</a:t>
            </a:r>
            <a:r>
              <a:rPr lang="es-PE" sz="1350" b="1" i="0" u="none" dirty="0">
                <a:solidFill>
                  <a:srgbClr val="2563EB"/>
                </a:solidFill>
                <a:latin typeface="DM Sans"/>
              </a:rPr>
              <a:t xml:space="preserve">  ·  13 h</a:t>
            </a:r>
          </a:p>
          <a:p>
            <a:pPr algn="l"/>
            <a:r>
              <a:rPr lang="es-PE" sz="1200" b="0" i="0" u="none" dirty="0">
                <a:solidFill>
                  <a:srgbClr val="334155"/>
                </a:solidFill>
                <a:latin typeface="DM Sans"/>
              </a:rPr>
              <a:t>Lun y Mar 2.5 h · Sáb y Dom 4 h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587270" y="3401568"/>
            <a:ext cx="301752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lang="es-PE" sz="1350" b="1" i="0" u="none" dirty="0">
                <a:solidFill>
                  <a:srgbClr val="0F172A"/>
                </a:solidFill>
                <a:latin typeface="DM Sans"/>
              </a:rPr>
              <a:t>3D Graphics</a:t>
            </a:r>
            <a:r>
              <a:rPr lang="es-PE" sz="1350" b="1" i="0" u="none" dirty="0">
                <a:solidFill>
                  <a:srgbClr val="2563EB"/>
                </a:solidFill>
                <a:latin typeface="DM Sans"/>
              </a:rPr>
              <a:t xml:space="preserve">  ·  10 h</a:t>
            </a:r>
          </a:p>
          <a:p>
            <a:pPr algn="l"/>
            <a:r>
              <a:rPr lang="es-PE" sz="1200" b="0" i="0" u="none" dirty="0">
                <a:solidFill>
                  <a:srgbClr val="334155"/>
                </a:solidFill>
                <a:latin typeface="DM Sans"/>
              </a:rPr>
              <a:t>Mié y Jue 2 h · Sáb y Dom 3 h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4587270" y="3986784"/>
            <a:ext cx="301752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lang="es-PE" sz="1350" b="1" i="0" u="none" dirty="0">
                <a:solidFill>
                  <a:srgbClr val="0F172A"/>
                </a:solidFill>
                <a:latin typeface="DM Sans"/>
              </a:rPr>
              <a:t>Planificación IA</a:t>
            </a:r>
            <a:r>
              <a:rPr lang="es-PE" sz="1350" b="1" i="0" u="none" dirty="0">
                <a:solidFill>
                  <a:srgbClr val="2563EB"/>
                </a:solidFill>
                <a:latin typeface="DM Sans"/>
              </a:rPr>
              <a:t xml:space="preserve">  ·  8 h</a:t>
            </a:r>
          </a:p>
          <a:p>
            <a:pPr algn="l"/>
            <a:r>
              <a:rPr lang="es-PE" sz="1200" b="0" i="0" u="none" dirty="0">
                <a:solidFill>
                  <a:srgbClr val="334155"/>
                </a:solidFill>
                <a:latin typeface="DM Sans"/>
              </a:rPr>
              <a:t>Lun/Mar 1.5 · Mié/Jue 0.5 · Sáb/Dom 2 h</a:t>
            </a:r>
          </a:p>
        </p:txBody>
      </p:sp>
      <p:sp>
        <p:nvSpPr>
          <p:cNvPr id="20" name="Badge 20"/>
          <p:cNvSpPr/>
          <p:nvPr/>
        </p:nvSpPr>
        <p:spPr>
          <a:xfrm>
            <a:off x="4587270" y="5276088"/>
            <a:ext cx="3017520" cy="329184"/>
          </a:xfrm>
          <a:prstGeom prst="roundRect">
            <a:avLst>
              <a:gd name="adj" fmla="val 50000"/>
            </a:avLst>
          </a:prstGeom>
          <a:solidFill>
            <a:srgbClr val="FEE2E2"/>
          </a:solidFill>
          <a:ln>
            <a:noFill/>
          </a:ln>
          <a:effectLst/>
        </p:spPr>
        <p:txBody>
          <a:bodyPr rtlCol="0" lIns="0" tIns="0" rIns="0" bIns="0" anchor="ctr">
            <a:noAutofit/>
          </a:bodyPr>
          <a:lstStyle/>
          <a:p>
            <a:pPr algn="ctr"/>
            <a:r>
              <a:rPr lang="es-PE" sz="1150" b="1" i="0" u="none">
                <a:solidFill>
                  <a:srgbClr val="B91C1C"/>
                </a:solidFill>
                <a:latin typeface="DM Sans"/>
              </a:rPr>
              <a:t>31 h · No factible: 4 violaciones</a:t>
            </a:r>
          </a:p>
        </p:txBody>
      </p:sp>
      <p:sp>
        <p:nvSpPr>
          <p:cNvPr id="21" name="Card 21"/>
          <p:cNvSpPr/>
          <p:nvPr/>
        </p:nvSpPr>
        <p:spPr>
          <a:xfrm>
            <a:off x="8107710" y="1755648"/>
            <a:ext cx="3474720" cy="3977640"/>
          </a:xfrm>
          <a:prstGeom prst="roundRect">
            <a:avLst>
              <a:gd name="adj" fmla="val 5000"/>
            </a:avLst>
          </a:prstGeom>
          <a:solidFill>
            <a:srgbClr val="F0FDF4"/>
          </a:solidFill>
          <a:ln w="9525">
            <a:solidFill>
              <a:srgbClr val="86EFAC"/>
            </a:solidFill>
          </a:ln>
          <a:effectLst>
            <a:outerShdw blurRad="76200" dist="19050" dir="5400000" algn="t" rotWithShape="0">
              <a:srgbClr val="0F172A">
                <a:alpha val="10000"/>
              </a:srgbClr>
            </a:outerShdw>
          </a:effectLst>
        </p:spPr>
        <p:txBody>
          <a:bodyPr rtlCol="0" lIns="0" tIns="0" rIns="0" bIns="0" anchor="ctr">
            <a:noAutofit/>
          </a:bodyPr>
          <a:lstStyle/>
          <a:p>
            <a:pPr algn="ctr"/>
            <a:endParaRPr lang="es-PE"/>
          </a:p>
        </p:txBody>
      </p:sp>
      <p:sp>
        <p:nvSpPr>
          <p:cNvPr id="22" name="TextBox 22"/>
          <p:cNvSpPr txBox="1"/>
          <p:nvPr/>
        </p:nvSpPr>
        <p:spPr>
          <a:xfrm>
            <a:off x="8336310" y="1938528"/>
            <a:ext cx="30175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050" b="1" i="0" u="none" dirty="0">
                <a:solidFill>
                  <a:srgbClr val="16A34A"/>
                </a:solidFill>
                <a:latin typeface="JetBrains Mono"/>
              </a:rPr>
              <a:t>PLAN C  ✓ ELEGIDO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336310" y="2157984"/>
            <a:ext cx="301752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800" b="1" i="0" u="none" dirty="0">
                <a:solidFill>
                  <a:srgbClr val="0F172A"/>
                </a:solidFill>
                <a:latin typeface="Space Grotesk"/>
              </a:rPr>
              <a:t>Bloques fin de semana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8336310" y="2523744"/>
            <a:ext cx="301752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100" b="0" i="1" u="none" dirty="0">
                <a:solidFill>
                  <a:srgbClr val="475569"/>
                </a:solidFill>
                <a:latin typeface="DM Sans"/>
              </a:rPr>
              <a:t>Bloques largos sáb/dom, semana ligera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8336310" y="2816352"/>
            <a:ext cx="301752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lang="es-PE" sz="1350" b="1" i="0" u="none" dirty="0">
                <a:solidFill>
                  <a:srgbClr val="0F172A"/>
                </a:solidFill>
                <a:latin typeface="DM Sans"/>
              </a:rPr>
              <a:t>Tesis</a:t>
            </a:r>
            <a:r>
              <a:rPr lang="es-PE" sz="1350" b="1" i="0" u="none" dirty="0">
                <a:solidFill>
                  <a:srgbClr val="16A34A"/>
                </a:solidFill>
                <a:latin typeface="DM Sans"/>
              </a:rPr>
              <a:t xml:space="preserve">  ·  16 h</a:t>
            </a:r>
          </a:p>
          <a:p>
            <a:pPr algn="l"/>
            <a:r>
              <a:rPr lang="es-PE" sz="1200" b="0" i="0" u="none" dirty="0">
                <a:solidFill>
                  <a:srgbClr val="334155"/>
                </a:solidFill>
                <a:latin typeface="DM Sans"/>
              </a:rPr>
              <a:t>Lun y Mar 2 h · Sáb y Dom 6 h (2×3 h)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8336310" y="3401568"/>
            <a:ext cx="301752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lang="es-PE" sz="1350" b="1" i="0" u="none" dirty="0">
                <a:solidFill>
                  <a:srgbClr val="0F172A"/>
                </a:solidFill>
                <a:latin typeface="DM Sans"/>
              </a:rPr>
              <a:t>3D Graphics</a:t>
            </a:r>
            <a:r>
              <a:rPr lang="es-PE" sz="1350" b="1" i="0" u="none" dirty="0">
                <a:solidFill>
                  <a:srgbClr val="16A34A"/>
                </a:solidFill>
                <a:latin typeface="DM Sans"/>
              </a:rPr>
              <a:t xml:space="preserve">  ·  10 h</a:t>
            </a:r>
          </a:p>
          <a:p>
            <a:pPr algn="l"/>
            <a:r>
              <a:rPr lang="es-PE" sz="1200" b="0" i="0" u="none" dirty="0">
                <a:solidFill>
                  <a:srgbClr val="334155"/>
                </a:solidFill>
                <a:latin typeface="DM Sans"/>
              </a:rPr>
              <a:t>Mié y Jue 2 h · Sáb y Dom 3 h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8336310" y="3986784"/>
            <a:ext cx="301752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lang="es-PE" sz="1350" b="1" i="0" u="none" dirty="0">
                <a:solidFill>
                  <a:srgbClr val="0F172A"/>
                </a:solidFill>
                <a:latin typeface="DM Sans"/>
              </a:rPr>
              <a:t>Planificación IA</a:t>
            </a:r>
            <a:r>
              <a:rPr lang="es-PE" sz="1350" b="1" i="0" u="none" dirty="0">
                <a:solidFill>
                  <a:srgbClr val="16A34A"/>
                </a:solidFill>
                <a:latin typeface="DM Sans"/>
              </a:rPr>
              <a:t xml:space="preserve">  ·  6 h</a:t>
            </a:r>
          </a:p>
          <a:p>
            <a:pPr algn="l"/>
            <a:r>
              <a:rPr lang="es-PE" sz="1200" b="0" i="0" u="none" dirty="0">
                <a:solidFill>
                  <a:srgbClr val="334155"/>
                </a:solidFill>
                <a:latin typeface="DM Sans"/>
              </a:rPr>
              <a:t>Lun y Mar 1 h · Sáb y Dom 2 h</a:t>
            </a:r>
          </a:p>
        </p:txBody>
      </p:sp>
      <p:sp>
        <p:nvSpPr>
          <p:cNvPr id="28" name="Badge 28"/>
          <p:cNvSpPr/>
          <p:nvPr/>
        </p:nvSpPr>
        <p:spPr>
          <a:xfrm>
            <a:off x="8336310" y="5276088"/>
            <a:ext cx="3017520" cy="329184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  <a:effectLst/>
        </p:spPr>
        <p:txBody>
          <a:bodyPr rtlCol="0" lIns="0" tIns="0" rIns="0" bIns="0" anchor="ctr">
            <a:noAutofit/>
          </a:bodyPr>
          <a:lstStyle/>
          <a:p>
            <a:pPr algn="ctr"/>
            <a:r>
              <a:rPr lang="es-PE" sz="1150" b="1" i="0" u="none">
                <a:solidFill>
                  <a:srgbClr val="15803D"/>
                </a:solidFill>
                <a:latin typeface="DM Sans"/>
              </a:rPr>
              <a:t>32 h · Factible · Plan elegido</a:t>
            </a:r>
          </a:p>
        </p:txBody>
      </p:sp>
      <p:sp>
        <p:nvSpPr>
          <p:cNvPr id="29" name="Callout 29"/>
          <p:cNvSpPr/>
          <p:nvPr/>
        </p:nvSpPr>
        <p:spPr>
          <a:xfrm>
            <a:off x="609630" y="5833872"/>
            <a:ext cx="10972800" cy="640080"/>
          </a:xfrm>
          <a:prstGeom prst="roundRect">
            <a:avLst>
              <a:gd name="adj" fmla="val 20000"/>
            </a:avLst>
          </a:prstGeom>
          <a:solidFill>
            <a:srgbClr val="EFF6FF"/>
          </a:solidFill>
          <a:ln>
            <a:noFill/>
          </a:ln>
          <a:effectLst/>
        </p:spPr>
        <p:txBody>
          <a:bodyPr rtlCol="0" lIns="237744" tIns="0" rIns="237744" bIns="0" anchor="ctr">
            <a:noAutofit/>
          </a:bodyPr>
          <a:lstStyle/>
          <a:p>
            <a:pPr algn="l"/>
            <a:r>
              <a:rPr lang="es-PE" sz="1200" b="1" i="0" u="none">
                <a:solidFill>
                  <a:srgbClr val="1E3A8A"/>
                </a:solidFill>
                <a:latin typeface="DM Sans"/>
              </a:rPr>
              <a:t xml:space="preserve">Violaciones detectadas por la tool: </a:t>
            </a:r>
            <a:r>
              <a:rPr lang="es-PE" sz="1200" b="0" i="0" u="none">
                <a:solidFill>
                  <a:srgbClr val="1E3A8A"/>
                </a:solidFill>
                <a:latin typeface="DM Sans"/>
              </a:rPr>
              <a:t>el A tiene 2 sesiones de 6 h (máx. 3 h); el B, 2 sesiones de 4 h y Mié/Jue con 2.5 h donde hay 2 h libres. Pesos: factibilidad 35 % · prioridades 30 % · balance 20 % · sobrecarga 15 %.</a:t>
            </a:r>
          </a:p>
        </p:txBody>
      </p:sp>
      <p:sp>
        <p:nvSpPr>
          <p:cNvPr id="30" name="Score A"/>
          <p:cNvSpPr txBox="1"/>
          <p:nvPr/>
        </p:nvSpPr>
        <p:spPr>
          <a:xfrm>
            <a:off x="838505" y="4553712"/>
            <a:ext cx="1188720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2800" b="1" i="0" u="none">
                <a:solidFill>
                  <a:srgbClr val="B91C1C"/>
                </a:solidFill>
                <a:latin typeface="Space Grotesk"/>
              </a:rPr>
              <a:t>69.1</a:t>
            </a:r>
          </a:p>
        </p:txBody>
      </p:sp>
      <p:sp>
        <p:nvSpPr>
          <p:cNvPr id="31" name="Score label A"/>
          <p:cNvSpPr txBox="1"/>
          <p:nvPr/>
        </p:nvSpPr>
        <p:spPr>
          <a:xfrm>
            <a:off x="2027225" y="4626864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100" b="0" i="0" u="none">
                <a:solidFill>
                  <a:srgbClr val="475569"/>
                </a:solidFill>
                <a:latin typeface="DM Sans"/>
              </a:rPr>
              <a:t>puntaje ponderado</a:t>
            </a:r>
          </a:p>
        </p:txBody>
      </p:sp>
      <p:sp>
        <p:nvSpPr>
          <p:cNvPr id="32" name="Score breakdown A"/>
          <p:cNvSpPr txBox="1"/>
          <p:nvPr/>
        </p:nvSpPr>
        <p:spPr>
          <a:xfrm>
            <a:off x="838505" y="5001768"/>
            <a:ext cx="301752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100" b="0" i="0" u="none">
                <a:solidFill>
                  <a:srgbClr val="475569"/>
                </a:solidFill>
                <a:latin typeface="DM Sans"/>
              </a:rPr>
              <a:t>Fact. 50 · Prior. 100 · Bal. 78 · Sobr. 40</a:t>
            </a:r>
          </a:p>
        </p:txBody>
      </p:sp>
      <p:sp>
        <p:nvSpPr>
          <p:cNvPr id="33" name="Score B"/>
          <p:cNvSpPr txBox="1"/>
          <p:nvPr/>
        </p:nvSpPr>
        <p:spPr>
          <a:xfrm>
            <a:off x="4587545" y="4553712"/>
            <a:ext cx="1188720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2800" b="1" i="0" u="none">
                <a:solidFill>
                  <a:srgbClr val="B91C1C"/>
                </a:solidFill>
                <a:latin typeface="Space Grotesk"/>
              </a:rPr>
              <a:t>39.2</a:t>
            </a:r>
          </a:p>
        </p:txBody>
      </p:sp>
      <p:sp>
        <p:nvSpPr>
          <p:cNvPr id="34" name="Score label B"/>
          <p:cNvSpPr txBox="1"/>
          <p:nvPr/>
        </p:nvSpPr>
        <p:spPr>
          <a:xfrm>
            <a:off x="5776265" y="4626864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100" b="0" i="0" u="none">
                <a:solidFill>
                  <a:srgbClr val="475569"/>
                </a:solidFill>
                <a:latin typeface="DM Sans"/>
              </a:rPr>
              <a:t>puntaje ponderado</a:t>
            </a:r>
          </a:p>
        </p:txBody>
      </p:sp>
      <p:sp>
        <p:nvSpPr>
          <p:cNvPr id="35" name="Score breakdown B"/>
          <p:cNvSpPr txBox="1"/>
          <p:nvPr/>
        </p:nvSpPr>
        <p:spPr>
          <a:xfrm>
            <a:off x="4587545" y="5001768"/>
            <a:ext cx="301752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100" b="0" i="0" u="none">
                <a:solidFill>
                  <a:srgbClr val="475569"/>
                </a:solidFill>
                <a:latin typeface="DM Sans"/>
              </a:rPr>
              <a:t>Fact. 0 · Prior. 100 · Bal. 46 · Sobr. 0</a:t>
            </a:r>
          </a:p>
        </p:txBody>
      </p:sp>
      <p:sp>
        <p:nvSpPr>
          <p:cNvPr id="36" name="Score C"/>
          <p:cNvSpPr txBox="1"/>
          <p:nvPr/>
        </p:nvSpPr>
        <p:spPr>
          <a:xfrm>
            <a:off x="8336585" y="4553712"/>
            <a:ext cx="1188720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2800" b="1" i="0" u="none">
                <a:solidFill>
                  <a:srgbClr val="15803D"/>
                </a:solidFill>
                <a:latin typeface="Space Grotesk"/>
              </a:rPr>
              <a:t>87.5</a:t>
            </a:r>
          </a:p>
        </p:txBody>
      </p:sp>
      <p:sp>
        <p:nvSpPr>
          <p:cNvPr id="37" name="Score label C"/>
          <p:cNvSpPr txBox="1"/>
          <p:nvPr/>
        </p:nvSpPr>
        <p:spPr>
          <a:xfrm>
            <a:off x="9525305" y="4626864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100" b="0" i="0" u="none">
                <a:solidFill>
                  <a:srgbClr val="475569"/>
                </a:solidFill>
                <a:latin typeface="DM Sans"/>
              </a:rPr>
              <a:t>puntaje ponderado</a:t>
            </a:r>
          </a:p>
        </p:txBody>
      </p:sp>
      <p:sp>
        <p:nvSpPr>
          <p:cNvPr id="38" name="Score breakdown C"/>
          <p:cNvSpPr txBox="1"/>
          <p:nvPr/>
        </p:nvSpPr>
        <p:spPr>
          <a:xfrm>
            <a:off x="8336585" y="5001768"/>
            <a:ext cx="301752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100" b="0" i="0" u="none">
                <a:solidFill>
                  <a:srgbClr val="475569"/>
                </a:solidFill>
                <a:latin typeface="DM Sans"/>
              </a:rPr>
              <a:t>Fact. 100 · Prior. 100 · Bal. 76 · Sobr. 49</a:t>
            </a:r>
          </a:p>
        </p:txBody>
      </p:sp>
      <p:sp>
        <p:nvSpPr>
          <p:cNvPr id="39" name="Telemetria"/>
          <p:cNvSpPr txBox="1"/>
          <p:nvPr/>
        </p:nvSpPr>
        <p:spPr>
          <a:xfrm>
            <a:off x="7925105" y="457200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s-PE" sz="1100" b="1" i="0" u="none">
                <a:solidFill>
                  <a:srgbClr val="16A34A"/>
                </a:solidFill>
                <a:latin typeface="JetBrains Mono"/>
              </a:rPr>
              <a:t>4 tools · 8 llamadas LLM · 22.0 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524125"/>
            <a:ext cx="4169568" cy="2705100"/>
          </a:xfrm>
          <a:prstGeom prst="roundRect">
            <a:avLst>
              <a:gd name="adj" fmla="val 5633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6368" y="2624137"/>
            <a:ext cx="171450" cy="2000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6368" y="3309937"/>
            <a:ext cx="190500" cy="2000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6368" y="3995737"/>
            <a:ext cx="238125" cy="20002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36368" y="4681537"/>
            <a:ext cx="142875" cy="2000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16A34A"/>
                </a:solidFill>
                <a:latin typeface="JetBrains Mono"/>
              </a:rPr>
              <a:t>06 · DECISIÓN FINAL DEL ASESOR ACADÉMICO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85800"/>
            <a:ext cx="11582400" cy="4381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Space Grotesk"/>
              </a:rPr>
              <a:t>Plan C Seleccionado: Bloques Fin de Semana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556" y="2867025"/>
            <a:ext cx="1821656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125" b="0" i="0" u="none">
                <a:solidFill>
                  <a:srgbClr val="38BDF8"/>
                </a:solidFill>
                <a:latin typeface="JetBrains Mono"/>
              </a:rPr>
              <a:t>PUNTAJE PONDERADO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58540" y="3171825"/>
            <a:ext cx="2071687" cy="8382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6600"/>
              </a:lnSpc>
            </a:pPr>
            <a:r>
              <a:rPr sz="6600" b="1" i="0" u="none">
                <a:solidFill>
                  <a:srgbClr val="F8FAFC"/>
                </a:solidFill>
                <a:latin typeface="DM Sans"/>
              </a:rPr>
              <a:t>87.5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6337" y="4162425"/>
            <a:ext cx="3036093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4ADE80"/>
                </a:solidFill>
                <a:latin typeface="DM Sans"/>
              </a:rPr>
              <a:t>100% Factible y Priorizado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7028" y="4486275"/>
            <a:ext cx="435471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 u="none">
                <a:solidFill>
                  <a:srgbClr val="94A3B8"/>
                </a:solidFill>
                <a:latin typeface="DM Sans"/>
              </a:rPr>
              <a:t>32.0 horas semanales distribuidas en bloques de máx. 3h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36368" y="2600325"/>
            <a:ext cx="6441281" cy="495300"/>
          </a:xfrm>
          <a:prstGeom prst="rect">
            <a:avLst/>
          </a:prstGeom>
          <a:noFill/>
        </p:spPr>
        <p:txBody>
          <a:bodyPr wrap="square" lIns="28575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E293B"/>
                </a:solidFill>
                <a:latin typeface="DM Sans"/>
              </a:rPr>
              <a:t>Por qué fue elegido:</a:t>
            </a:r>
            <a:r>
              <a:rPr sz="1500" b="0" i="0" u="none">
                <a:solidFill>
                  <a:srgbClr val="1E293B"/>
                </a:solidFill>
                <a:latin typeface="DM Sans"/>
              </a:rPr>
              <a:t> Único plan sin violaciones duras y que cubre las horas requeridas.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36368" y="3286125"/>
            <a:ext cx="6441281" cy="495300"/>
          </a:xfrm>
          <a:prstGeom prst="rect">
            <a:avLst/>
          </a:prstGeom>
          <a:noFill/>
        </p:spPr>
        <p:txBody>
          <a:bodyPr wrap="square" lIns="30480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E293B"/>
                </a:solidFill>
                <a:latin typeface="DM Sans"/>
              </a:rPr>
              <a:t>Riesgos permanentes:</a:t>
            </a:r>
            <a:r>
              <a:rPr sz="1500" b="0" i="0" u="none">
                <a:solidFill>
                  <a:srgbClr val="1E293B"/>
                </a:solidFill>
                <a:latin typeface="DM Sans"/>
              </a:rPr>
              <a:t> Fatiga por 11h de estudio en sábado y domingo; eventuales horas extra laborales.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6368" y="3971925"/>
            <a:ext cx="6441281" cy="495300"/>
          </a:xfrm>
          <a:prstGeom prst="rect">
            <a:avLst/>
          </a:prstGeom>
          <a:noFill/>
        </p:spPr>
        <p:txBody>
          <a:bodyPr wrap="square" lIns="352425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E293B"/>
                </a:solidFill>
                <a:latin typeface="DM Sans"/>
              </a:rPr>
              <a:t>Revisión humana previa:</a:t>
            </a:r>
            <a:r>
              <a:rPr sz="1500" b="0" i="0" u="none">
                <a:solidFill>
                  <a:srgbClr val="1E293B"/>
                </a:solidFill>
                <a:latin typeface="DM Sans"/>
              </a:rPr>
              <a:t> Confirmar disponibilidad real de 15h el sábado y no cruce con inglés.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6368" y="4657725"/>
            <a:ext cx="6441281" cy="495300"/>
          </a:xfrm>
          <a:prstGeom prst="rect">
            <a:avLst/>
          </a:prstGeom>
          <a:noFill/>
        </p:spPr>
        <p:txBody>
          <a:bodyPr wrap="square" lIns="257175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E293B"/>
                </a:solidFill>
                <a:latin typeface="DM Sans"/>
              </a:rPr>
              <a:t>Acción sugerida:</a:t>
            </a:r>
            <a:r>
              <a:rPr sz="1500" b="0" i="0" u="none">
                <a:solidFill>
                  <a:srgbClr val="1E293B"/>
                </a:solidFill>
                <a:latin typeface="DM Sans"/>
              </a:rPr>
              <a:t> Mover 1–2h del fin de semana a lunes/martes y pausas cada 90 min.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609600" y="2466975"/>
            <a:ext cx="3505200" cy="1581150"/>
          </a:xfrm>
          <a:prstGeom prst="roundRect">
            <a:avLst>
              <a:gd name="adj" fmla="val 8433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343400" y="2466975"/>
            <a:ext cx="3505200" cy="1581150"/>
          </a:xfrm>
          <a:prstGeom prst="roundRect">
            <a:avLst>
              <a:gd name="adj" fmla="val 8433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077200" y="2466975"/>
            <a:ext cx="3505200" cy="1581150"/>
          </a:xfrm>
          <a:prstGeom prst="roundRect">
            <a:avLst>
              <a:gd name="adj" fmla="val 8433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67700" y="5595937"/>
            <a:ext cx="3000375" cy="447675"/>
          </a:xfrm>
          <a:prstGeom prst="roundRect">
            <a:avLst>
              <a:gd name="adj" fmla="val 17021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09600" y="533400"/>
            <a:ext cx="115824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38BDF8"/>
                </a:solidFill>
                <a:latin typeface="JetBrains Mono"/>
              </a:rPr>
              <a:t>07 · EVALUACIÓN CRÍTICA &amp; DEMO EN VIVO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949584"/>
            <a:ext cx="11582400" cy="4381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 dirty="0" err="1">
                <a:solidFill>
                  <a:srgbClr val="F8FAFC"/>
                </a:solidFill>
                <a:latin typeface="Space Grotesk"/>
              </a:rPr>
              <a:t>Límites</a:t>
            </a:r>
            <a:r>
              <a:rPr sz="2700" b="1" i="0" u="none" dirty="0">
                <a:solidFill>
                  <a:srgbClr val="F8FAFC"/>
                </a:solidFill>
                <a:latin typeface="Space Grotesk"/>
              </a:rPr>
              <a:t> del Sistema, </a:t>
            </a:r>
            <a:r>
              <a:rPr sz="2700" b="1" i="0" u="none" dirty="0" err="1">
                <a:solidFill>
                  <a:srgbClr val="F8FAFC"/>
                </a:solidFill>
                <a:latin typeface="Space Grotesk"/>
              </a:rPr>
              <a:t>Rol</a:t>
            </a:r>
            <a:r>
              <a:rPr sz="2700" b="1" i="0" u="none" dirty="0">
                <a:solidFill>
                  <a:srgbClr val="F8FAFC"/>
                </a:solidFill>
                <a:latin typeface="Space Grotesk"/>
              </a:rPr>
              <a:t> </a:t>
            </a:r>
            <a:r>
              <a:rPr sz="2700" b="1" i="0" u="none" dirty="0" err="1">
                <a:solidFill>
                  <a:srgbClr val="F8FAFC"/>
                </a:solidFill>
                <a:latin typeface="Space Grotesk"/>
              </a:rPr>
              <a:t>Humano</a:t>
            </a:r>
            <a:r>
              <a:rPr sz="2700" b="1" i="0" u="none" dirty="0">
                <a:solidFill>
                  <a:srgbClr val="F8FAFC"/>
                </a:solidFill>
                <a:latin typeface="Space Grotesk"/>
              </a:rPr>
              <a:t> y </a:t>
            </a:r>
            <a:r>
              <a:rPr sz="2700" b="1" i="0" u="none" dirty="0" err="1">
                <a:solidFill>
                  <a:srgbClr val="F8FAFC"/>
                </a:solidFill>
                <a:latin typeface="Space Grotesk"/>
              </a:rPr>
              <a:t>Siguiente</a:t>
            </a:r>
            <a:r>
              <a:rPr sz="2700" b="1" i="0" u="none" dirty="0">
                <a:solidFill>
                  <a:srgbClr val="F8FAFC"/>
                </a:solidFill>
                <a:latin typeface="Space Grotesk"/>
              </a:rPr>
              <a:t> </a:t>
            </a:r>
            <a:r>
              <a:rPr sz="2700" b="1" i="0" u="none" dirty="0" err="1">
                <a:solidFill>
                  <a:srgbClr val="F8FAFC"/>
                </a:solidFill>
                <a:latin typeface="Space Grotesk"/>
              </a:rPr>
              <a:t>Versión</a:t>
            </a:r>
            <a:endParaRPr sz="2700" b="1" i="0" u="none" dirty="0">
              <a:solidFill>
                <a:srgbClr val="F8FAFC"/>
              </a:solidFill>
              <a:latin typeface="Space Grotesk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76300" y="2733675"/>
            <a:ext cx="3900487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F8FAFC"/>
                </a:solidFill>
                <a:latin typeface="Space Grotesk"/>
              </a:rPr>
              <a:t>5 Chequeos Superados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6300" y="3095625"/>
            <a:ext cx="306705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CBD5E1"/>
                </a:solidFill>
                <a:latin typeface="DM Sans"/>
              </a:rPr>
              <a:t>Validación determinista de factibilidad, ranking, cursos urgentes, uso de tools y holgura ≤90%.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0100" y="2733675"/>
            <a:ext cx="3900487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F8FAFC"/>
                </a:solidFill>
                <a:latin typeface="Space Grotesk"/>
              </a:rPr>
              <a:t>Límites y Datos Falsos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0100" y="3095625"/>
            <a:ext cx="306705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CBD5E1"/>
                </a:solidFill>
                <a:latin typeface="DM Sans"/>
              </a:rPr>
              <a:t>Datos faltantes se declaran como supuestos; datos erróneos requieren validación humana.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43900" y="2733675"/>
            <a:ext cx="3848100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F8FAFC"/>
                </a:solidFill>
                <a:latin typeface="Space Grotesk"/>
              </a:rPr>
              <a:t>Mejoras v2.0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3900" y="3095625"/>
            <a:ext cx="306705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CBD5E1"/>
                </a:solidFill>
                <a:latin typeface="DM Sans"/>
              </a:rPr>
              <a:t>Integración directa con Canvas/Google Calendar y agente de seguimiento semanal.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689</Words>
  <Application>Microsoft Office PowerPoint</Application>
  <PresentationFormat>Panorámica</PresentationFormat>
  <Paragraphs>99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4" baseType="lpstr">
      <vt:lpstr>Space Grotesk</vt:lpstr>
      <vt:lpstr>Arial</vt:lpstr>
      <vt:lpstr>JetBrains Mono</vt:lpstr>
      <vt:lpstr>DM Sans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subject/>
  <dc:creator/>
  <cp:keywords/>
  <dc:description>generated using python-pptx</dc:description>
  <cp:lastModifiedBy>User</cp:lastModifiedBy>
  <cp:revision>3</cp:revision>
  <dcterms:created xsi:type="dcterms:W3CDTF">2013-01-27T09:14:16Z</dcterms:created>
  <dcterms:modified xsi:type="dcterms:W3CDTF">2026-10-14T15:31:40Z</dcterms:modified>
  <cp:category/>
</cp:coreProperties>
</file>