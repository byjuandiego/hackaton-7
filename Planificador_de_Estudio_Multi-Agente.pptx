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9" r:id="rId5"/>
    <p:sldId id="260" r:id="rId6"/>
    <p:sldId id="265" r:id="rId23"/>
    <p:sldId id="264" r:id="rId22"/>
    <p:sldId id="262" r:id="rId8"/>
    <p:sldId id="263" r:id="rId9"/>
  </p:sldIdLst>
  <p:sldSz cx="12192000" cy="6858000"/>
  <p:notesSz cx="6858000" cy="9144000"/>
  <p:embeddedFontLst>
    <p:embeddedFont>
      <p:font typeface="Space Grotesk"/>
      <p:bold r:id="rId10"/>
    </p:embeddedFont>
    <p:embeddedFont>
      <p:font typeface="JetBrains Mono"/>
      <p:bold r:id="rId11"/>
    </p:embeddedFont>
    <p:embeddedFont>
      <p:font typeface="DM Sans"/>
      <p:bold r:id="rId12"/>
      <p:italic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7.xml"/><Relationship Id="rId2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Horas libres</c:v>
                </c:pt>
              </c:strCache>
            </c:strRef>
          </c:tx>
          <c:dPt>
            <c:idx val="0"/>
            <c:spPr>
              <a:solidFill>
                <a:srgbClr val="93C5FD"/>
              </a:solidFill>
              <a:ln>
                <a:noFill/>
              </a:ln>
            </c:spPr>
          </c:dPt>
          <c:dPt>
            <c:idx val="1"/>
            <c:spPr>
              <a:solidFill>
                <a:srgbClr val="93C5FD"/>
              </a:solidFill>
              <a:ln>
                <a:noFill/>
              </a:ln>
            </c:spPr>
          </c:dPt>
          <c:dPt>
            <c:idx val="2"/>
            <c:spPr>
              <a:solidFill>
                <a:srgbClr val="93C5FD"/>
              </a:solidFill>
              <a:ln>
                <a:noFill/>
              </a:ln>
            </c:spPr>
          </c:dPt>
          <c:dPt>
            <c:idx val="3"/>
            <c:spPr>
              <a:solidFill>
                <a:srgbClr val="93C5FD"/>
              </a:solidFill>
              <a:ln>
                <a:noFill/>
              </a:ln>
            </c:spPr>
          </c:dPt>
          <c:dPt>
            <c:idx val="4"/>
            <c:spPr>
              <a:solidFill>
                <a:srgbClr val="93C5FD"/>
              </a:solidFill>
              <a:ln>
                <a:noFill/>
              </a:ln>
            </c:spPr>
          </c:dPt>
          <c:dPt>
            <c:idx val="5"/>
            <c:spPr>
              <a:solidFill>
                <a:srgbClr val="2563EB"/>
              </a:solidFill>
              <a:ln>
                <a:noFill/>
              </a:ln>
            </c:spPr>
          </c:dPt>
          <c:dPt>
            <c:idx val="6"/>
            <c:spPr>
              <a:solidFill>
                <a:srgbClr val="2563EB"/>
              </a:solidFill>
              <a:ln>
                <a:noFill/>
              </a:ln>
            </c:spPr>
          </c:dPt>
          <c:cat>
            <c:strRef>
              <c:f>Sheet1!$A$2:$A$8</c:f>
              <c:strCache>
                <c:ptCount val="7"/>
                <c:pt idx="0">
                  <c:v>Lun</c:v>
                </c:pt>
                <c:pt idx="1">
                  <c:v>Mar</c:v>
                </c:pt>
                <c:pt idx="2">
                  <c:v>Mié</c:v>
                </c:pt>
                <c:pt idx="3">
                  <c:v>Jue</c:v>
                </c:pt>
                <c:pt idx="4">
                  <c:v>Vie</c:v>
                </c:pt>
                <c:pt idx="5">
                  <c:v>Sáb</c:v>
                </c:pt>
                <c:pt idx="6">
                  <c:v>Dom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4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15</c:v>
                </c:pt>
                <c:pt idx="6">
                  <c:v>15</c:v>
                </c:pt>
              </c:numCache>
            </c:numRef>
          </c:val>
        </c:ser>
        <c:dLbls>
          <c:numFmt formatCode="0&quot; h&quot;" sourceLinked="0"/>
          <c:txPr>
            <a:bodyPr/>
            <a:lstStyle/>
            <a:p>
              <a:pPr>
                <a:defRPr sz="110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1100">
                <a:solidFill>
                  <a:srgbClr val="47556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334155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5648325"/>
            <a:ext cx="10972800" cy="6762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5648325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2102197"/>
            <a:ext cx="114300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F97316"/>
                </a:solidFill>
                <a:latin typeface="JetBrains Mono"/>
              </a:rPr>
              <a:t>CASO 1 · EQUIPO «CAMACHO QUIERE EGRESAR»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511772"/>
            <a:ext cx="9701212" cy="1215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784"/>
              </a:lnSpc>
            </a:pPr>
            <a:r>
              <a:rPr sz="4350" b="1" i="0" u="none">
                <a:solidFill>
                  <a:srgbClr val="F8FAFC"/>
                </a:solidFill>
                <a:latin typeface="Space Grotesk"/>
              </a:rPr>
              <a:t>Planificador de Estudio Personalizado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17602"/>
            <a:ext cx="771525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CBD5E1"/>
                </a:solidFill>
                <a:latin typeface="DM Sans"/>
              </a:rPr>
              <a:t>Sistema multi-agente con orquestación cíclica en LangGraph, herramientas deterministas y motor de inferencia Groq.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905" y="5897880"/>
            <a:ext cx="47244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94A3B8"/>
                </a:solidFill>
                <a:latin typeface="JetBrains Mono"/>
              </a:rPr>
              <a:t>Python · LangGraph · LangChain · Pydantic · Groq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591246"/>
            <a:ext cx="4827984" cy="2608808"/>
          </a:xfrm>
          <a:prstGeom prst="roundRect">
            <a:avLst>
              <a:gd name="adj" fmla="val 584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2025" y="4190404"/>
            <a:ext cx="412313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784" y="2614612"/>
            <a:ext cx="190500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784" y="3319462"/>
            <a:ext cx="171450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4784" y="4024312"/>
            <a:ext cx="219075" cy="2000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4784" y="4729162"/>
            <a:ext cx="190500" cy="2000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JetBrains Mono"/>
              </a:rPr>
              <a:t>01 · CONTEXTO Y DEFINICIÓN DEL 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34367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Space Grotesk"/>
              </a:rPr>
              <a:t>¿Cómo repartir bien el tiempo libre sin fracasar en el intento?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025" y="2943671"/>
            <a:ext cx="515391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A580C"/>
                </a:solidFill>
                <a:latin typeface="JetBrains Mono"/>
              </a:rPr>
              <a:t>CASO REAL DE EJECUCIÓN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025" y="4390429"/>
            <a:ext cx="421838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DM Sans"/>
              </a:rPr>
              <a:t>Planificar a mano en último ciclo genera sobrecarga cognitiva o descuido del proyecto de titulación.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025" y="3347888"/>
            <a:ext cx="1845468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sz="4800" b="1" i="0" u="none">
                <a:solidFill>
                  <a:srgbClr val="0F172A"/>
                </a:solidFill>
                <a:latin typeface="DM Sans"/>
              </a:rPr>
              <a:t>21.6h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305621"/>
            <a:ext cx="2551509" cy="6942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22"/>
              </a:lnSpc>
            </a:pPr>
            <a:r>
              <a:rPr sz="1350" b="0" i="0" u="none">
                <a:solidFill>
                  <a:srgbClr val="475569"/>
                </a:solidFill>
                <a:latin typeface="DM Sans"/>
              </a:rPr>
              <a:t>requeridas vs. </a:t>
            </a:r>
            <a:r>
              <a:rPr sz="1350" b="1" i="0" u="none">
                <a:solidFill>
                  <a:srgbClr val="475569"/>
                </a:solidFill>
                <a:latin typeface="DM Sans"/>
              </a:rPr>
              <a:t>44.0h</a:t>
            </a:r>
            <a:r>
              <a:rPr sz="1350" b="0" i="0" u="none">
                <a:solidFill>
                  <a:srgbClr val="475569"/>
                </a:solidFill>
                <a:latin typeface="DM Sans"/>
              </a:rPr>
              <a:t> libres concentradas en fin de semana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4784" y="2590800"/>
            <a:ext cx="5782865" cy="495300"/>
          </a:xfrm>
          <a:prstGeom prst="rect">
            <a:avLst/>
          </a:prstGeom>
          <a:noFill/>
        </p:spPr>
        <p:txBody>
          <a:bodyPr wrap="square" lIns="30480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Decisión a apoyar: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> Asignación exacta de horas, días y actividades por curso.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4784" y="3295650"/>
            <a:ext cx="5782865" cy="495300"/>
          </a:xfrm>
          <a:prstGeom prst="rect">
            <a:avLst/>
          </a:prstGeom>
          <a:noFill/>
        </p:spPr>
        <p:txBody>
          <a:bodyPr wrap="square" lIns="28575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Usuarios: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 xml:space="preserve"> Solo estudiantes y personas por egresar que tienen otras ocupaciones.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4784" y="4000500"/>
            <a:ext cx="5782865" cy="461665"/>
          </a:xfrm>
          <a:prstGeom prst="rect">
            <a:avLst/>
          </a:prstGeom>
          <a:noFill/>
        </p:spPr>
        <p:txBody>
          <a:bodyPr wrap="square" lIns="333375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1E293B"/>
                </a:solidFill>
                <a:latin typeface="DM Sans"/>
              </a:rPr>
              <a:t>5 </a:t>
            </a:r>
            <a:r>
              <a:rPr sz="1500" b="1" i="0" u="none" dirty="0" smtClean="0">
                <a:solidFill>
                  <a:srgbClr val="1E293B"/>
                </a:solidFill>
                <a:latin typeface="DM Sans"/>
              </a:rPr>
              <a:t>Inputs:</a:t>
            </a:r>
            <a:r>
              <a:rPr sz="1500" b="0" i="0" u="none" dirty="0" smtClean="0">
                <a:solidFill>
                  <a:srgbClr val="1E293B"/>
                </a:solidFill>
                <a:latin typeface="DM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cursos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 y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disponibilidad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obligatorios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;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prioridades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,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restricciones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 y meta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opcionales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4784" y="4705350"/>
            <a:ext cx="5782865" cy="495300"/>
          </a:xfrm>
          <a:prstGeom prst="rect">
            <a:avLst/>
          </a:prstGeom>
          <a:noFill/>
        </p:spPr>
        <p:txBody>
          <a:bodyPr wrap="square" lIns="30480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Impacto directo: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> Horarios factibles, reducción de fatiga y supuestos explícitos.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09600" y="5991225"/>
            <a:ext cx="109728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a del flujo multi-agente: Analista, Planificador, Evaluador y Decisor, con las tools y la rama condicion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5" y="1371600"/>
            <a:ext cx="10972800" cy="3749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JetBrains Mono"/>
              </a:rPr>
              <a:t>02 · ARQUITECTURA Y FLUJO DE ORQUESTACIÓN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3816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Space Grotesk"/>
              </a:rPr>
              <a:t>4 Agentes, 2 Tools y una Rama de Autocorrección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172200"/>
            <a:ext cx="5934317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334155"/>
                </a:solidFill>
                <a:latin typeface="DM Sans"/>
              </a:rPr>
              <a:t>Estado </a:t>
            </a:r>
            <a:r>
              <a:rPr sz="1350" b="1" i="0" u="none" dirty="0" err="1">
                <a:solidFill>
                  <a:srgbClr val="334155"/>
                </a:solidFill>
                <a:latin typeface="DM Sans"/>
              </a:rPr>
              <a:t>compartido</a:t>
            </a:r>
            <a:r>
              <a:rPr sz="1350" b="1" i="0" u="none" dirty="0">
                <a:solidFill>
                  <a:srgbClr val="334155"/>
                </a:solidFill>
                <a:latin typeface="DM Sans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350" b="0" i="0" u="none" dirty="0" err="1" smtClean="0">
                <a:solidFill>
                  <a:srgbClr val="334155"/>
                </a:solidFill>
                <a:latin typeface="DM Sans"/>
              </a:rPr>
              <a:t>EstadoPla</a:t>
            </a:r>
            <a:r>
              <a:rPr lang="es-ES" sz="1350" b="0" i="0" u="none" dirty="0" smtClean="0">
                <a:solidFill>
                  <a:srgbClr val="334155"/>
                </a:solidFill>
                <a:latin typeface="DM Sans"/>
              </a:rPr>
              <a:t>n</a:t>
            </a:r>
            <a:r>
              <a:rPr sz="1350" b="0" i="0" u="none" dirty="0" smtClean="0">
                <a:solidFill>
                  <a:srgbClr val="334155"/>
                </a:solidFill>
                <a:latin typeface="DM Sans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DM Sans"/>
              </a:rPr>
              <a:t>almacena</a:t>
            </a:r>
            <a:r>
              <a:rPr sz="135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DM Sans"/>
              </a:rPr>
              <a:t>perfil</a:t>
            </a:r>
            <a:r>
              <a:rPr sz="1350" b="0" i="0" u="none" dirty="0">
                <a:solidFill>
                  <a:srgbClr val="334155"/>
                </a:solidFill>
                <a:latin typeface="DM Sans"/>
              </a:rPr>
              <a:t>, planes, </a:t>
            </a:r>
            <a:r>
              <a:rPr sz="1350" b="0" i="0" u="none" dirty="0" err="1">
                <a:solidFill>
                  <a:srgbClr val="334155"/>
                </a:solidFill>
                <a:latin typeface="DM Sans"/>
              </a:rPr>
              <a:t>métricas</a:t>
            </a:r>
            <a:r>
              <a:rPr sz="1350" b="0" i="0" u="none" dirty="0">
                <a:solidFill>
                  <a:srgbClr val="334155"/>
                </a:solidFill>
                <a:latin typeface="DM Sans"/>
              </a:rPr>
              <a:t> y ranking.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67900" y="6172200"/>
            <a:ext cx="18097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JetBrains Mono"/>
              </a:rPr>
              <a:t>MAX_REVISIONES = 1</a:t>
            </a:r>
          </a:p>
        </p:txBody>
      </p:sp>
      <p:sp>
        <p:nvSpPr>
          <p:cNvPr id="9" name="Callout banner"/>
          <p:cNvSpPr/>
          <p:nvPr/>
        </p:nvSpPr>
        <p:spPr>
          <a:xfrm>
            <a:off x="609905" y="5230368"/>
            <a:ext cx="10972800" cy="658368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anner text"/>
          <p:cNvSpPr txBox="1"/>
          <p:nvPr/>
        </p:nvSpPr>
        <p:spPr>
          <a:xfrm>
            <a:off x="841248" y="5230368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00" b="1" i="0" u="none">
                <a:solidFill>
                  <a:srgbClr val="1E3A8A"/>
                </a:solidFill>
                <a:latin typeface="DM Sans"/>
              </a:rPr>
              <a:t xml:space="preserve">Por qué 4 agentes: </a:t>
            </a:r>
            <a:r>
              <a:rPr sz="1300" b="0" i="0" u="none">
                <a:solidFill>
                  <a:srgbClr val="1E3A8A"/>
                </a:solidFill>
                <a:latin typeface="DM Sans"/>
              </a:rPr>
              <a:t>diagnóstico, planificación, evaluación y decisión son roles distintos. Separar Planificador y Evaluador reduce el sesgo de autoevaluación; un 5.º agente no aportaría un rol nuevo.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600200"/>
            <a:ext cx="5295900" cy="4663440"/>
          </a:xfrm>
          <a:prstGeom prst="roundRect">
            <a:avLst>
              <a:gd name="adj" fmla="val 466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86500" y="1600200"/>
            <a:ext cx="5295900" cy="4663440"/>
          </a:xfrm>
          <a:prstGeom prst="roundRect">
            <a:avLst>
              <a:gd name="adj" fmla="val 39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23925" y="3017520"/>
            <a:ext cx="4667250" cy="495300"/>
          </a:xfrm>
          <a:prstGeom prst="roundRect">
            <a:avLst>
              <a:gd name="adj" fmla="val 1923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1947672"/>
            <a:ext cx="171450" cy="2286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825" y="1947672"/>
            <a:ext cx="200025" cy="228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JetBrains Mono"/>
              </a:rPr>
              <a:t>03 · IMPLEMENTACIÓN EN GROQ &amp; FUNCIONES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905" y="813816"/>
            <a:ext cx="7700826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Space Grotesk"/>
              </a:rPr>
              <a:t>Fórmulas Deterministas y Gestión de API Keys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925" y="1920240"/>
            <a:ext cx="6125765" cy="295275"/>
          </a:xfrm>
          <a:prstGeom prst="rect">
            <a:avLst/>
          </a:prstGeom>
          <a:noFill/>
        </p:spPr>
        <p:txBody>
          <a:bodyPr wrap="none" lIns="26670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Space Grotesk"/>
              </a:rPr>
              <a:t>Cálculo Determinista en 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925" y="2386584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DM Sans"/>
              </a:rPr>
              <a:t>Los LLM no calculan a mano: delegan la aritmética a Python y solo razonan sobre resultados.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825" y="1911096"/>
            <a:ext cx="5591175" cy="295275"/>
          </a:xfrm>
          <a:prstGeom prst="rect">
            <a:avLst/>
          </a:prstGeom>
          <a:noFill/>
        </p:spPr>
        <p:txBody>
          <a:bodyPr wrap="none" lIns="295275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Space Grotesk"/>
              </a:rPr>
              <a:t>Gestión de Cuota en Groq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0825" y="2377440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DM Sans"/>
              </a:rPr>
              <a:t>El límite TPM en Groq es por modelo y cuenta; por eso cada agente usa su propia key.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325" y="3163824"/>
            <a:ext cx="5453062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8BDF8"/>
                </a:solidFill>
                <a:latin typeface="JetBrains Mono"/>
              </a:rPr>
              <a:t>Horas = Cr × 1.5 × F_dif × F_urg × F_pri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925" y="5303520"/>
            <a:ext cx="58340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Factibilidad (35%):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Tope diario y máx. 3h/sesión.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925" y="5577840"/>
            <a:ext cx="58340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Cobertura (30%):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70% curso prioritario + 30% todos.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925" y="5852160"/>
            <a:ext cx="58340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Balance (20%) y Sobrecarga (15%):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Penaliza &gt;90% uso.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0825" y="3063240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Planificador: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openai/gpt-oss-120b (máximo razonamiento estructurado).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0825" y="4023360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Evaluador: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qwen/qwen3.8-27b (invocación paralela de tools).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825" y="4681728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Analista y Decisor: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openai/gpt-oss-20b (baja latencia).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825" y="5340096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Respaldo: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 xml:space="preserve"> ModelFallbackMiddleware cambia de modelo ante error 429.</a:t>
            </a:r>
          </a:p>
        </p:txBody>
      </p:sp>
      <p:sp>
        <p:nvSpPr>
          <p:cNvPr id="21" name="Leyenda formula"/>
          <p:cNvSpPr txBox="1"/>
          <p:nvPr/>
        </p:nvSpPr>
        <p:spPr>
          <a:xfrm>
            <a:off x="923544" y="3593592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u="none">
                <a:solidFill>
                  <a:srgbClr val="334155"/>
                </a:solidFill>
                <a:latin typeface="DM Sans"/>
              </a:rPr>
              <a:t>Cr</a:t>
            </a:r>
            <a:r>
              <a:rPr sz="1100" b="0" i="0" u="none">
                <a:solidFill>
                  <a:srgbClr val="64748B"/>
                </a:solidFill>
                <a:latin typeface="DM Sans"/>
              </a:rPr>
              <a:t xml:space="preserve"> = créditos · </a:t>
            </a:r>
            <a:r>
              <a:rPr sz="1100" b="1" i="0" u="none">
                <a:solidFill>
                  <a:srgbClr val="334155"/>
                </a:solidFill>
                <a:latin typeface="DM Sans"/>
              </a:rPr>
              <a:t>1.5</a:t>
            </a:r>
            <a:r>
              <a:rPr sz="1100" b="0" i="0" u="none">
                <a:solidFill>
                  <a:srgbClr val="64748B"/>
                </a:solidFill>
                <a:latin typeface="DM Sans"/>
              </a:rPr>
              <a:t xml:space="preserve"> = horas/semana por crédito</a:t>
            </a:r>
          </a:p>
          <a:p>
            <a:pPr algn="l"/>
            <a:r>
              <a:rPr sz="1100" b="1" i="0" u="none">
                <a:solidFill>
                  <a:srgbClr val="334155"/>
                </a:solidFill>
                <a:latin typeface="DM Sans"/>
              </a:rPr>
              <a:t>F_pri</a:t>
            </a:r>
            <a:r>
              <a:rPr sz="1100" b="0" i="0" u="none">
                <a:solidFill>
                  <a:srgbClr val="64748B"/>
                </a:solidFill>
                <a:latin typeface="DM Sans"/>
              </a:rPr>
              <a:t xml:space="preserve"> = ×1.2 si el curso es prioritario</a:t>
            </a:r>
          </a:p>
        </p:txBody>
      </p:sp>
      <p:sp>
        <p:nvSpPr>
          <p:cNvPr id="22" name="Caption pesos"/>
          <p:cNvSpPr txBox="1"/>
          <p:nvPr/>
        </p:nvSpPr>
        <p:spPr>
          <a:xfrm>
            <a:off x="923544" y="5047488"/>
            <a:ext cx="466344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64748B"/>
                </a:solidFill>
                <a:latin typeface="DM Sans"/>
              </a:rPr>
              <a:t>Peso de cada criterio en el puntaje final (0–100):</a:t>
            </a:r>
          </a:p>
        </p:txBody>
      </p:sp>
      <p:graphicFrame>
        <p:nvGraphicFramePr>
          <p:cNvPr id="23" name="Tabla factores" descr="Tablas de los factores: dificultad (1 a 5) a F_dif y días a la evaluación a F_urg"/>
          <p:cNvGraphicFramePr>
            <a:graphicFrameLocks noGrp="1"/>
          </p:cNvGraphicFramePr>
          <p:nvPr/>
        </p:nvGraphicFramePr>
        <p:xfrm>
          <a:off x="923544" y="4005072"/>
          <a:ext cx="4663440" cy="960120"/>
        </p:xfrm>
        <a:graphic>
          <a:graphicData uri="http://schemas.openxmlformats.org/drawingml/2006/table">
            <a:tbl>
              <a:tblPr/>
              <a:tblGrid>
                <a:gridCol w="1463040"/>
                <a:gridCol w="640080"/>
                <a:gridCol w="640080"/>
                <a:gridCol w="640080"/>
                <a:gridCol w="640080"/>
                <a:gridCol w="640080"/>
              </a:tblGrid>
              <a:tr h="192024">
                <a:tc gridSpan="6">
                  <a:txBody>
                    <a:bodyPr/>
                    <a:lstStyle/>
                    <a:p>
                      <a:pPr algn="l"/>
                      <a:r>
                        <a:rPr lang="es-PE" sz="1000" b="0" i="1">
                          <a:solidFill>
                            <a:srgbClr val="64748B"/>
                          </a:solidFill>
                          <a:latin typeface="DM Sans"/>
                        </a:rPr>
                        <a:t>Factores fijos (supuestos ajustables); el usuario solo da dificultad y días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PE"/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PE"/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PE"/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PE"/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PE"/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lang="es-PE" sz="1000" b="1" i="0">
                          <a:solidFill>
                            <a:srgbClr val="475569"/>
                          </a:solidFill>
                          <a:latin typeface="DM Sans"/>
                        </a:rPr>
                        <a:t>Dificultad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0" i="0">
                          <a:solidFill>
                            <a:srgbClr val="475569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0" i="0">
                          <a:solidFill>
                            <a:srgbClr val="475569"/>
                          </a:solidFill>
                          <a:latin typeface="DM Sans"/>
                        </a:rPr>
                        <a:t>2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0" i="0">
                          <a:solidFill>
                            <a:srgbClr val="475569"/>
                          </a:solidFill>
                          <a:latin typeface="DM Sans"/>
                        </a:rPr>
                        <a:t>3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0" i="0">
                          <a:solidFill>
                            <a:srgbClr val="475569"/>
                          </a:solidFill>
                          <a:latin typeface="DM Sans"/>
                        </a:rPr>
                        <a:t>4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0" i="0">
                          <a:solidFill>
                            <a:srgbClr val="475569"/>
                          </a:solidFill>
                          <a:latin typeface="DM Sans"/>
                        </a:rPr>
                        <a:t>5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lang="es-PE" sz="1000" b="1" i="0">
                          <a:solidFill>
                            <a:srgbClr val="0F172A"/>
                          </a:solidFill>
                          <a:latin typeface="DM Sans"/>
                        </a:rPr>
                        <a:t>→ F_dif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1" i="0">
                          <a:solidFill>
                            <a:srgbClr val="0F172A"/>
                          </a:solidFill>
                          <a:latin typeface="DM Sans"/>
                        </a:rPr>
                        <a:t>0.8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1" i="0">
                          <a:solidFill>
                            <a:srgbClr val="0F172A"/>
                          </a:solidFill>
                          <a:latin typeface="DM Sans"/>
                        </a:rPr>
                        <a:t>0.9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1" i="0">
                          <a:solidFill>
                            <a:srgbClr val="0F172A"/>
                          </a:solidFill>
                          <a:latin typeface="DM Sans"/>
                        </a:rPr>
                        <a:t>1.0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1" i="0">
                          <a:solidFill>
                            <a:srgbClr val="0F172A"/>
                          </a:solidFill>
                          <a:latin typeface="DM Sans"/>
                        </a:rPr>
                        <a:t>1.25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1" i="0">
                          <a:solidFill>
                            <a:srgbClr val="0F172A"/>
                          </a:solidFill>
                          <a:latin typeface="DM Sans"/>
                        </a:rPr>
                        <a:t>1.5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lang="es-PE" sz="1000" b="1" i="0">
                          <a:solidFill>
                            <a:srgbClr val="475569"/>
                          </a:solidFill>
                          <a:latin typeface="DM Sans"/>
                        </a:rPr>
                        <a:t>Días a evaluación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0" i="0">
                          <a:solidFill>
                            <a:srgbClr val="475569"/>
                          </a:solidFill>
                          <a:latin typeface="DM Sans"/>
                        </a:rPr>
                        <a:t>≤3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0" i="0">
                          <a:solidFill>
                            <a:srgbClr val="475569"/>
                          </a:solidFill>
                          <a:latin typeface="DM Sans"/>
                        </a:rPr>
                        <a:t>≤7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0" i="0">
                          <a:solidFill>
                            <a:srgbClr val="475569"/>
                          </a:solidFill>
                          <a:latin typeface="DM Sans"/>
                        </a:rPr>
                        <a:t>≤14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0" i="0">
                          <a:solidFill>
                            <a:srgbClr val="475569"/>
                          </a:solidFill>
                          <a:latin typeface="DM Sans"/>
                        </a:rPr>
                        <a:t>&gt;14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0" i="0">
                          <a:solidFill>
                            <a:srgbClr val="475569"/>
                          </a:solidFill>
                          <a:latin typeface="DM Sans"/>
                        </a:rPr>
                        <a:t>sin dato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/>
                      <a:r>
                        <a:rPr lang="es-PE" sz="1000" b="1" i="0">
                          <a:solidFill>
                            <a:srgbClr val="0F172A"/>
                          </a:solidFill>
                          <a:latin typeface="DM Sans"/>
                        </a:rPr>
                        <a:t>→ F_urg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1" i="0">
                          <a:solidFill>
                            <a:srgbClr val="0F172A"/>
                          </a:solidFill>
                          <a:latin typeface="DM Sans"/>
                        </a:rPr>
                        <a:t>1.5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1" i="0">
                          <a:solidFill>
                            <a:srgbClr val="0F172A"/>
                          </a:solidFill>
                          <a:latin typeface="DM Sans"/>
                        </a:rPr>
                        <a:t>1.3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1" i="0">
                          <a:solidFill>
                            <a:srgbClr val="0F172A"/>
                          </a:solidFill>
                          <a:latin typeface="DM Sans"/>
                        </a:rPr>
                        <a:t>1.15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1" i="0">
                          <a:solidFill>
                            <a:srgbClr val="0F172A"/>
                          </a:solidFill>
                          <a:latin typeface="DM Sans"/>
                        </a:rPr>
                        <a:t>1.0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1" i="0">
                          <a:solidFill>
                            <a:srgbClr val="0F172A"/>
                          </a:solidFill>
                          <a:latin typeface="DM Sans"/>
                        </a:rPr>
                        <a:t>1.0</a:t>
                      </a: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E2E8F0"/>
                      </a:solidFill>
                      <a:prstDash val="soli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9630" y="457200"/>
            <a:ext cx="9509760" cy="1714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2563EB"/>
                </a:solidFill>
                <a:latin typeface="JetBrains Mono"/>
              </a:rPr>
              <a:t>04 · RESULTADOS INTERMEDIOS · CASO DE PRUEBA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9630" y="81409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700" b="1" i="0" u="none" dirty="0">
                <a:solidFill>
                  <a:srgbClr val="0F172A"/>
                </a:solidFill>
                <a:latin typeface="Space Grotesk"/>
              </a:rPr>
              <a:t>El Caso Real: Input de Aaron Camacho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09630" y="137160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300" b="1" i="0" u="none" dirty="0">
                <a:solidFill>
                  <a:srgbClr val="475569"/>
                </a:solidFill>
                <a:latin typeface="DM Sans"/>
              </a:rPr>
              <a:t xml:space="preserve">Último ciclo de Ciencia de la Computación · </a:t>
            </a:r>
            <a:r>
              <a:rPr lang="es-PE" sz="1300" b="0" i="0" u="none" dirty="0">
                <a:solidFill>
                  <a:srgbClr val="475569"/>
                </a:solidFill>
                <a:latin typeface="DM Sans"/>
              </a:rPr>
              <a:t>trabaja full time de lunes a viernes y dos tercios de su tiempo libre están en el fin de semana</a:t>
            </a:r>
          </a:p>
        </p:txBody>
      </p:sp>
      <p:sp>
        <p:nvSpPr>
          <p:cNvPr id="5" name="Card 5"/>
          <p:cNvSpPr/>
          <p:nvPr/>
        </p:nvSpPr>
        <p:spPr>
          <a:xfrm>
            <a:off x="609630" y="1828800"/>
            <a:ext cx="548640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6" name="TextBox 6"/>
          <p:cNvSpPr txBox="1"/>
          <p:nvPr/>
        </p:nvSpPr>
        <p:spPr>
          <a:xfrm>
            <a:off x="838230" y="202996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2563EB"/>
                </a:solidFill>
                <a:latin typeface="JetBrains Mono"/>
              </a:rPr>
              <a:t>INPUTS 1 Y 3 · CURSOS Y PRIORIDAD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8230" y="2359152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400" b="1" i="0" u="none" dirty="0">
                <a:solidFill>
                  <a:srgbClr val="0F172A"/>
                </a:solidFill>
                <a:latin typeface="DM Sans"/>
              </a:rPr>
              <a:t>Proyecto Final de CC II (Tesis)</a:t>
            </a:r>
          </a:p>
        </p:txBody>
      </p:sp>
      <p:sp>
        <p:nvSpPr>
          <p:cNvPr id="8" name="Tag 8"/>
          <p:cNvSpPr/>
          <p:nvPr/>
        </p:nvSpPr>
        <p:spPr>
          <a:xfrm>
            <a:off x="4724430" y="2350008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txBody>
          <a:bodyPr rtlCol="0" lIns="0" tIns="0" rIns="0" bIns="0" anchor="ctr">
            <a:noAutofit/>
          </a:bodyPr>
          <a:lstStyle/>
          <a:p>
            <a:pPr algn="ctr"/>
            <a:r>
              <a:rPr lang="es-PE" sz="950" b="1" i="0" u="none" dirty="0">
                <a:solidFill>
                  <a:srgbClr val="1D4ED8"/>
                </a:solidFill>
                <a:latin typeface="JetBrains Mono"/>
              </a:rPr>
              <a:t>PRIORIDAD 1</a:t>
            </a:r>
          </a:p>
        </p:txBody>
      </p:sp>
      <p:sp>
        <p:nvSpPr>
          <p:cNvPr id="9" name="Dificultad 9"/>
          <p:cNvSpPr/>
          <p:nvPr/>
        </p:nvSpPr>
        <p:spPr>
          <a:xfrm>
            <a:off x="838230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0" name="Dificultad 10"/>
          <p:cNvSpPr/>
          <p:nvPr/>
        </p:nvSpPr>
        <p:spPr>
          <a:xfrm>
            <a:off x="993678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1" name="Dificultad 11"/>
          <p:cNvSpPr/>
          <p:nvPr/>
        </p:nvSpPr>
        <p:spPr>
          <a:xfrm>
            <a:off x="1149126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2" name="Dificultad 12"/>
          <p:cNvSpPr/>
          <p:nvPr/>
        </p:nvSpPr>
        <p:spPr>
          <a:xfrm>
            <a:off x="1304574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3" name="Dificultad 13"/>
          <p:cNvSpPr/>
          <p:nvPr/>
        </p:nvSpPr>
        <p:spPr>
          <a:xfrm>
            <a:off x="1460022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Box 14"/>
          <p:cNvSpPr txBox="1"/>
          <p:nvPr/>
        </p:nvSpPr>
        <p:spPr>
          <a:xfrm>
            <a:off x="1706910" y="2670048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200" b="1" i="0" u="none" dirty="0">
                <a:solidFill>
                  <a:srgbClr val="334155"/>
                </a:solidFill>
                <a:latin typeface="DM Sans"/>
              </a:rPr>
              <a:t>Dificultad 5/5</a:t>
            </a:r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 xml:space="preserve">  ·  4 créditos · evaluación en 40 días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38230" y="299923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400" b="1" i="0" u="none" dirty="0">
                <a:solidFill>
                  <a:srgbClr val="0F172A"/>
                </a:solidFill>
                <a:latin typeface="DM Sans"/>
              </a:rPr>
              <a:t>3D Graphics Programming</a:t>
            </a:r>
          </a:p>
        </p:txBody>
      </p:sp>
      <p:sp>
        <p:nvSpPr>
          <p:cNvPr id="16" name="Dificultad 16"/>
          <p:cNvSpPr/>
          <p:nvPr/>
        </p:nvSpPr>
        <p:spPr>
          <a:xfrm>
            <a:off x="838230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7" name="Dificultad 17"/>
          <p:cNvSpPr/>
          <p:nvPr/>
        </p:nvSpPr>
        <p:spPr>
          <a:xfrm>
            <a:off x="993678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8" name="Dificultad 18"/>
          <p:cNvSpPr/>
          <p:nvPr/>
        </p:nvSpPr>
        <p:spPr>
          <a:xfrm>
            <a:off x="1149126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9" name="Dificultad 19"/>
          <p:cNvSpPr/>
          <p:nvPr/>
        </p:nvSpPr>
        <p:spPr>
          <a:xfrm>
            <a:off x="1304574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0" name="Dificultad 20"/>
          <p:cNvSpPr/>
          <p:nvPr/>
        </p:nvSpPr>
        <p:spPr>
          <a:xfrm>
            <a:off x="1460022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Box 21"/>
          <p:cNvSpPr txBox="1"/>
          <p:nvPr/>
        </p:nvSpPr>
        <p:spPr>
          <a:xfrm>
            <a:off x="1706910" y="3310128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200" b="1" i="0" u="none" dirty="0">
                <a:solidFill>
                  <a:srgbClr val="334155"/>
                </a:solidFill>
                <a:latin typeface="DM Sans"/>
              </a:rPr>
              <a:t>Dificultad 3/5</a:t>
            </a:r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 xml:space="preserve">  ·  4 créditos · evaluación en 41 días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38230" y="363931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400" b="1" i="0" u="none" dirty="0">
                <a:solidFill>
                  <a:srgbClr val="0F172A"/>
                </a:solidFill>
                <a:latin typeface="DM Sans"/>
              </a:rPr>
              <a:t>Planificación y Toma de Decisiones en IA</a:t>
            </a:r>
          </a:p>
        </p:txBody>
      </p:sp>
      <p:sp>
        <p:nvSpPr>
          <p:cNvPr id="23" name="Dificultad 23"/>
          <p:cNvSpPr/>
          <p:nvPr/>
        </p:nvSpPr>
        <p:spPr>
          <a:xfrm>
            <a:off x="838230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4" name="Dificultad 24"/>
          <p:cNvSpPr/>
          <p:nvPr/>
        </p:nvSpPr>
        <p:spPr>
          <a:xfrm>
            <a:off x="993678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5" name="Dificultad 25"/>
          <p:cNvSpPr/>
          <p:nvPr/>
        </p:nvSpPr>
        <p:spPr>
          <a:xfrm>
            <a:off x="1149126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6" name="Dificultad 26"/>
          <p:cNvSpPr/>
          <p:nvPr/>
        </p:nvSpPr>
        <p:spPr>
          <a:xfrm>
            <a:off x="1304574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7" name="Dificultad 27"/>
          <p:cNvSpPr/>
          <p:nvPr/>
        </p:nvSpPr>
        <p:spPr>
          <a:xfrm>
            <a:off x="1460022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Box 28"/>
          <p:cNvSpPr txBox="1"/>
          <p:nvPr/>
        </p:nvSpPr>
        <p:spPr>
          <a:xfrm>
            <a:off x="1706910" y="3950208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200" b="1" i="0" u="none" dirty="0">
                <a:solidFill>
                  <a:srgbClr val="334155"/>
                </a:solidFill>
                <a:latin typeface="DM Sans"/>
              </a:rPr>
              <a:t>Dificultad 1/5</a:t>
            </a:r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 xml:space="preserve">  ·  4 créditos · evaluación en 40 días</a:t>
            </a:r>
          </a:p>
        </p:txBody>
      </p:sp>
      <p:sp>
        <p:nvSpPr>
          <p:cNvPr id="29" name="Card 29"/>
          <p:cNvSpPr/>
          <p:nvPr/>
        </p:nvSpPr>
        <p:spPr>
          <a:xfrm>
            <a:off x="6370350" y="1828800"/>
            <a:ext cx="521208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30" name="TextBox 30"/>
          <p:cNvSpPr txBox="1"/>
          <p:nvPr/>
        </p:nvSpPr>
        <p:spPr>
          <a:xfrm>
            <a:off x="6598950" y="2029968"/>
            <a:ext cx="47548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2563EB"/>
                </a:solidFill>
                <a:latin typeface="JetBrains Mono"/>
              </a:rPr>
              <a:t>INPUT 2 · DISPONIBILIDAD</a:t>
            </a:r>
            <a:r>
              <a:rPr lang="es-PE" sz="1050" b="1" i="0" u="none" dirty="0">
                <a:solidFill>
                  <a:srgbClr val="0F172A"/>
                </a:solidFill>
                <a:latin typeface="JetBrains Mono"/>
              </a:rPr>
              <a:t xml:space="preserve">   44 h libres/sem</a:t>
            </a:r>
          </a:p>
        </p:txBody>
      </p:sp>
      <p:sp>
        <p:nvSpPr>
          <p:cNvPr id="31" name="Card 31"/>
          <p:cNvSpPr/>
          <p:nvPr/>
        </p:nvSpPr>
        <p:spPr>
          <a:xfrm>
            <a:off x="609630" y="4572000"/>
            <a:ext cx="548640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32" name="TextBox 32"/>
          <p:cNvSpPr txBox="1"/>
          <p:nvPr/>
        </p:nvSpPr>
        <p:spPr>
          <a:xfrm>
            <a:off x="838230" y="477316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2563EB"/>
                </a:solidFill>
                <a:latin typeface="JetBrains Mono"/>
              </a:rPr>
              <a:t>INPUT 4 · RESTRICCIONES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38230" y="5047488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s-PE" sz="1300" b="1" i="0" u="none" dirty="0">
                <a:solidFill>
                  <a:srgbClr val="0F172A"/>
                </a:solidFill>
                <a:latin typeface="DM Sans"/>
              </a:rPr>
              <a:t xml:space="preserve">Trabajo full time </a:t>
            </a:r>
            <a:r>
              <a:rPr lang="es-PE" sz="1300" b="0" i="0" u="none" dirty="0">
                <a:solidFill>
                  <a:srgbClr val="334155"/>
                </a:solidFill>
                <a:latin typeface="DM Sans"/>
              </a:rPr>
              <a:t>en días laborales</a:t>
            </a:r>
          </a:p>
          <a:p>
            <a:pPr algn="l">
              <a:spcAft>
                <a:spcPts val="300"/>
              </a:spcAft>
            </a:pPr>
            <a:r>
              <a:rPr lang="es-PE" sz="1300" b="1" i="0" u="none" dirty="0">
                <a:solidFill>
                  <a:srgbClr val="0F172A"/>
                </a:solidFill>
                <a:latin typeface="DM Sans"/>
              </a:rPr>
              <a:t xml:space="preserve">Inglés </a:t>
            </a:r>
            <a:r>
              <a:rPr lang="es-PE" sz="1300" b="0" i="0" u="none" dirty="0">
                <a:solidFill>
                  <a:srgbClr val="334155"/>
                </a:solidFill>
                <a:latin typeface="DM Sans"/>
              </a:rPr>
              <a:t>de 8:55 a 10:25, de lunes a viernes</a:t>
            </a:r>
          </a:p>
          <a:p>
            <a:pPr algn="l">
              <a:spcAft>
                <a:spcPts val="200"/>
              </a:spcAft>
            </a:pPr>
            <a:r>
              <a:rPr lang="es-PE" sz="1300" b="1" i="0" u="none" dirty="0">
                <a:solidFill>
                  <a:srgbClr val="0F172A"/>
                </a:solidFill>
                <a:latin typeface="DM Sans"/>
              </a:rPr>
              <a:t xml:space="preserve">Un día de descanso </a:t>
            </a:r>
            <a:r>
              <a:rPr lang="es-PE" sz="1300" b="0" i="0" u="none" dirty="0">
                <a:solidFill>
                  <a:srgbClr val="334155"/>
                </a:solidFill>
                <a:latin typeface="DM Sans"/>
              </a:rPr>
              <a:t>(usualmente sábado)</a:t>
            </a:r>
          </a:p>
          <a:p>
            <a:pPr algn="l"/>
            <a:r>
              <a:rPr lang="es-PE" sz="1100" b="1" i="0" u="none" dirty="0">
                <a:solidFill>
                  <a:srgbClr val="B45309"/>
                </a:solidFill>
                <a:latin typeface="DM Sans"/>
              </a:rPr>
              <a:t>⚠ En tensión con las 15 h libres que declaró ese mismo día</a:t>
            </a:r>
          </a:p>
        </p:txBody>
      </p:sp>
      <p:sp>
        <p:nvSpPr>
          <p:cNvPr id="34" name="Card 34"/>
          <p:cNvSpPr/>
          <p:nvPr/>
        </p:nvSpPr>
        <p:spPr>
          <a:xfrm>
            <a:off x="6370350" y="4572000"/>
            <a:ext cx="5212080" cy="1600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35" name="TextBox 35"/>
          <p:cNvSpPr txBox="1"/>
          <p:nvPr/>
        </p:nvSpPr>
        <p:spPr>
          <a:xfrm>
            <a:off x="6598950" y="477316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60A5FA"/>
                </a:solidFill>
                <a:latin typeface="JetBrains Mono"/>
              </a:rPr>
              <a:t>INPUT 5 · META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598950" y="5074920"/>
            <a:ext cx="47548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lang="es-PE" sz="2000" b="1" i="0" u="none" dirty="0">
                <a:solidFill>
                  <a:srgbClr val="F8FAFC"/>
                </a:solidFill>
                <a:latin typeface="Space Grotesk"/>
              </a:rPr>
              <a:t>Egresar en diciembre</a:t>
            </a:r>
          </a:p>
          <a:p>
            <a:pPr algn="l"/>
            <a:r>
              <a:rPr lang="es-PE" sz="1300" b="0" i="0" u="none" dirty="0">
                <a:solidFill>
                  <a:srgbClr val="CBD5E1"/>
                </a:solidFill>
                <a:latin typeface="DM Sans"/>
              </a:rPr>
              <a:t xml:space="preserve">Aprobar los 3 cursos para la 1.ª semana de diciembre con promedio de </a:t>
            </a:r>
            <a:r>
              <a:rPr lang="es-PE" sz="1300" b="1" i="0" u="none" dirty="0">
                <a:solidFill>
                  <a:srgbClr val="4ADE80"/>
                </a:solidFill>
                <a:latin typeface="DM Sans"/>
              </a:rPr>
              <a:t>14 o más</a:t>
            </a:r>
          </a:p>
        </p:txBody>
      </p:sp>
      <p:graphicFrame>
        <p:nvGraphicFramePr>
          <p:cNvPr id="37" name="Disponibilidad por día"/>
          <p:cNvGraphicFramePr>
            <a:graphicFrameLocks noGrp="1"/>
          </p:cNvGraphicFramePr>
          <p:nvPr/>
        </p:nvGraphicFramePr>
        <p:xfrm>
          <a:off x="6507510" y="2286000"/>
          <a:ext cx="4937760" cy="1965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9630" y="457200"/>
            <a:ext cx="9509760" cy="1714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es-PE" sz="1050" b="1" i="0" u="none">
                <a:solidFill>
                  <a:srgbClr val="2563EB"/>
                </a:solidFill>
                <a:latin typeface="JetBrains Mono"/>
              </a:rPr>
              <a:t>05 · RESULTADOS INTERMEDIOS · PLANES Y EVALUACIÓN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9630" y="81409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700" b="1" i="0" u="none">
                <a:solidFill>
                  <a:srgbClr val="0F172A"/>
                </a:solidFill>
                <a:latin typeface="Space Grotesk"/>
              </a:rPr>
              <a:t>Planes Propuestos y su Evaluación Determinista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09630" y="137160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300" b="1" i="0" u="none" dirty="0">
                <a:solidFill>
                  <a:srgbClr val="475569"/>
                </a:solidFill>
                <a:latin typeface="DM Sans"/>
              </a:rPr>
              <a:t xml:space="preserve">Mínimo requerido (tool del Analista): </a:t>
            </a:r>
            <a:r>
              <a:rPr lang="es-PE" sz="1300" b="0" i="0" u="none" dirty="0">
                <a:solidFill>
                  <a:srgbClr val="475569"/>
                </a:solidFill>
                <a:latin typeface="DM Sans"/>
              </a:rPr>
              <a:t>Tesis 10.8 h · 3D Graphics 6.0 h · Planificación IA 4.8 h  —  Libres: 44 h (Sáb y Dom 15 h c/u)</a:t>
            </a:r>
          </a:p>
        </p:txBody>
      </p:sp>
      <p:sp>
        <p:nvSpPr>
          <p:cNvPr id="5" name="Card 5"/>
          <p:cNvSpPr/>
          <p:nvPr/>
        </p:nvSpPr>
        <p:spPr>
          <a:xfrm>
            <a:off x="609630" y="1755648"/>
            <a:ext cx="3474720" cy="3977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6" name="TextBox 6"/>
          <p:cNvSpPr txBox="1"/>
          <p:nvPr/>
        </p:nvSpPr>
        <p:spPr>
          <a:xfrm>
            <a:off x="838230" y="1938528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>
                <a:solidFill>
                  <a:srgbClr val="2563EB"/>
                </a:solidFill>
                <a:latin typeface="JetBrains Mono"/>
              </a:rPr>
              <a:t>PLAN 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8230" y="2157984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800" b="1" i="0" u="none">
                <a:solidFill>
                  <a:srgbClr val="0F172A"/>
                </a:solidFill>
                <a:latin typeface="Space Grotesk"/>
              </a:rPr>
              <a:t>Intensivo crítico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38230" y="2523744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1" u="none">
                <a:solidFill>
                  <a:srgbClr val="475569"/>
                </a:solidFill>
                <a:latin typeface="DM Sans"/>
              </a:rPr>
              <a:t>Llena los días laborales, foco en la Tesis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38230" y="2816352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Tesis</a:t>
            </a:r>
            <a:r>
              <a:rPr lang="es-PE" sz="1350" b="1" i="0" u="none">
                <a:solidFill>
                  <a:srgbClr val="2563EB"/>
                </a:solidFill>
                <a:latin typeface="DM Sans"/>
              </a:rPr>
              <a:t xml:space="preserve">  ·  12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Lun y Mar 3 h · Mié, Jue y Vie 2 h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38230" y="3401568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3D Graphics</a:t>
            </a:r>
            <a:r>
              <a:rPr lang="es-PE" sz="1350" b="1" i="0" u="none">
                <a:solidFill>
                  <a:srgbClr val="2563EB"/>
                </a:solidFill>
                <a:latin typeface="DM Sans"/>
              </a:rPr>
              <a:t xml:space="preserve">  ·  8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Lun y Mar 1 h · Sáb y Dom 3 h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38230" y="3986784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Planificación IA</a:t>
            </a:r>
            <a:r>
              <a:rPr lang="es-PE" sz="1350" b="1" i="0" u="none">
                <a:solidFill>
                  <a:srgbClr val="2563EB"/>
                </a:solidFill>
                <a:latin typeface="DM Sans"/>
              </a:rPr>
              <a:t xml:space="preserve">  ·  4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Sáb y Dom 2 h</a:t>
            </a:r>
          </a:p>
        </p:txBody>
      </p:sp>
      <p:sp>
        <p:nvSpPr>
          <p:cNvPr id="12" name="Badge 12"/>
          <p:cNvSpPr/>
          <p:nvPr/>
        </p:nvSpPr>
        <p:spPr>
          <a:xfrm>
            <a:off x="838230" y="5276088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txBody>
          <a:bodyPr rtlCol="0" lIns="0" tIns="0" rIns="0" bIns="0" anchor="ctr">
            <a:noAutofit/>
          </a:bodyPr>
          <a:lstStyle/>
          <a:p>
            <a:pPr algn="ctr"/>
            <a:r>
              <a:rPr lang="es-PE" sz="1150" b="1" i="0" u="none">
                <a:solidFill>
                  <a:srgbClr val="1D4ED8"/>
                </a:solidFill>
                <a:latin typeface="DM Sans"/>
              </a:rPr>
              <a:t>24 h · Factible · sobrecarga alta</a:t>
            </a:r>
          </a:p>
        </p:txBody>
      </p:sp>
      <p:sp>
        <p:nvSpPr>
          <p:cNvPr id="13" name="Card 13"/>
          <p:cNvSpPr/>
          <p:nvPr/>
        </p:nvSpPr>
        <p:spPr>
          <a:xfrm>
            <a:off x="4358670" y="1755648"/>
            <a:ext cx="3474720" cy="397764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9525">
            <a:solidFill>
              <a:srgbClr val="86EFAC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14" name="TextBox 14"/>
          <p:cNvSpPr txBox="1"/>
          <p:nvPr/>
        </p:nvSpPr>
        <p:spPr>
          <a:xfrm>
            <a:off x="4587270" y="1938528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>
                <a:solidFill>
                  <a:srgbClr val="16A34A"/>
                </a:solidFill>
                <a:latin typeface="JetBrains Mono"/>
              </a:rPr>
              <a:t>PLAN B  ✓ ELEGIDO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587270" y="2157984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800" b="1" i="0" u="none">
                <a:solidFill>
                  <a:srgbClr val="0F172A"/>
                </a:solidFill>
                <a:latin typeface="Space Grotesk"/>
              </a:rPr>
              <a:t>Carga pareja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587270" y="2523744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1" u="none">
                <a:solidFill>
                  <a:srgbClr val="475569"/>
                </a:solidFill>
                <a:latin typeface="DM Sans"/>
              </a:rPr>
              <a:t>Deja margen libre todos los días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587270" y="2816352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Tesis</a:t>
            </a:r>
            <a:r>
              <a:rPr lang="es-PE" sz="1350" b="1" i="0" u="none">
                <a:solidFill>
                  <a:srgbClr val="16A34A"/>
                </a:solidFill>
                <a:latin typeface="DM Sans"/>
              </a:rPr>
              <a:t xml:space="preserve">  ·  8.5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Lun y Mar 2 h · Mié, Jue y Vie 1.5 h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587270" y="3401568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3D Graphics</a:t>
            </a:r>
            <a:r>
              <a:rPr lang="es-PE" sz="1350" b="1" i="0" u="none">
                <a:solidFill>
                  <a:srgbClr val="16A34A"/>
                </a:solidFill>
                <a:latin typeface="DM Sans"/>
              </a:rPr>
              <a:t xml:space="preserve">  ·  8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Lun y Mar 1.5 h · Sáb y Dom 2.5 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587270" y="3986784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Planificación IA</a:t>
            </a:r>
            <a:r>
              <a:rPr lang="es-PE" sz="1350" b="1" i="0" u="none">
                <a:solidFill>
                  <a:srgbClr val="16A34A"/>
                </a:solidFill>
                <a:latin typeface="DM Sans"/>
              </a:rPr>
              <a:t xml:space="preserve">  ·  4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Sáb y Dom 2 h</a:t>
            </a:r>
          </a:p>
        </p:txBody>
      </p:sp>
      <p:sp>
        <p:nvSpPr>
          <p:cNvPr id="20" name="Badge 20"/>
          <p:cNvSpPr/>
          <p:nvPr/>
        </p:nvSpPr>
        <p:spPr>
          <a:xfrm>
            <a:off x="4587270" y="5276088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txBody>
          <a:bodyPr rtlCol="0" lIns="0" tIns="0" rIns="0" bIns="0" anchor="ctr">
            <a:noAutofit/>
          </a:bodyPr>
          <a:lstStyle/>
          <a:p>
            <a:pPr algn="ctr"/>
            <a:r>
              <a:rPr lang="es-PE" sz="1150" b="1" i="0" u="none">
                <a:solidFill>
                  <a:srgbClr val="15803D"/>
                </a:solidFill>
                <a:latin typeface="DM Sans"/>
              </a:rPr>
              <a:t>20.5 h · Factible · Plan elegido</a:t>
            </a:r>
          </a:p>
        </p:txBody>
      </p:sp>
      <p:sp>
        <p:nvSpPr>
          <p:cNvPr id="21" name="Card 21"/>
          <p:cNvSpPr/>
          <p:nvPr/>
        </p:nvSpPr>
        <p:spPr>
          <a:xfrm>
            <a:off x="8107710" y="1755648"/>
            <a:ext cx="3474720" cy="3977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22" name="TextBox 22"/>
          <p:cNvSpPr txBox="1"/>
          <p:nvPr/>
        </p:nvSpPr>
        <p:spPr>
          <a:xfrm>
            <a:off x="8336310" y="1938528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>
                <a:solidFill>
                  <a:srgbClr val="2563EB"/>
                </a:solidFill>
                <a:latin typeface="JetBrains Mono"/>
              </a:rPr>
              <a:t>PLAN C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336310" y="2157984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800" b="1" i="0" u="none">
                <a:solidFill>
                  <a:srgbClr val="0F172A"/>
                </a:solidFill>
                <a:latin typeface="Space Grotesk"/>
              </a:rPr>
              <a:t>Bloques fin de semana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336310" y="2523744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1" u="none">
                <a:solidFill>
                  <a:srgbClr val="475569"/>
                </a:solidFill>
                <a:latin typeface="DM Sans"/>
              </a:rPr>
              <a:t>Bloques largos sáb/dom, semana ligera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336310" y="2816352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Tesis</a:t>
            </a:r>
            <a:r>
              <a:rPr lang="es-PE" sz="1350" b="1" i="0" u="none">
                <a:solidFill>
                  <a:srgbClr val="2563EB"/>
                </a:solidFill>
                <a:latin typeface="DM Sans"/>
              </a:rPr>
              <a:t xml:space="preserve">  ·  12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Mié y Jue 1 h · Sáb y Dom 5 h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336310" y="3401568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3D Graphics</a:t>
            </a:r>
            <a:r>
              <a:rPr lang="es-PE" sz="1350" b="1" i="0" u="none">
                <a:solidFill>
                  <a:srgbClr val="2563EB"/>
                </a:solidFill>
                <a:latin typeface="DM Sans"/>
              </a:rPr>
              <a:t xml:space="preserve">  ·  8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Lun y Mar 2 h · Sáb y Dom 2 h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336310" y="3986784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Planificación IA</a:t>
            </a:r>
            <a:r>
              <a:rPr lang="es-PE" sz="1350" b="1" i="0" u="none">
                <a:solidFill>
                  <a:srgbClr val="2563EB"/>
                </a:solidFill>
                <a:latin typeface="DM Sans"/>
              </a:rPr>
              <a:t xml:space="preserve">  ·  5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Vie 1 h · Sáb y Dom 2 h</a:t>
            </a:r>
          </a:p>
        </p:txBody>
      </p:sp>
      <p:sp>
        <p:nvSpPr>
          <p:cNvPr id="28" name="Badge 28"/>
          <p:cNvSpPr/>
          <p:nvPr/>
        </p:nvSpPr>
        <p:spPr>
          <a:xfrm>
            <a:off x="8336310" y="5276088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txBody>
          <a:bodyPr rtlCol="0" lIns="0" tIns="0" rIns="0" bIns="0" anchor="ctr">
            <a:noAutofit/>
          </a:bodyPr>
          <a:lstStyle/>
          <a:p>
            <a:pPr algn="ctr"/>
            <a:r>
              <a:rPr lang="es-PE" sz="1150" b="1" i="0" u="none">
                <a:solidFill>
                  <a:srgbClr val="B91C1C"/>
                </a:solidFill>
                <a:latin typeface="DM Sans"/>
              </a:rPr>
              <a:t>25 h · No factible: 2 bloques de 5 h</a:t>
            </a:r>
          </a:p>
        </p:txBody>
      </p:sp>
      <p:sp>
        <p:nvSpPr>
          <p:cNvPr id="29" name="Callout 29"/>
          <p:cNvSpPr/>
          <p:nvPr/>
        </p:nvSpPr>
        <p:spPr>
          <a:xfrm>
            <a:off x="609630" y="5833872"/>
            <a:ext cx="10972800" cy="64008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txBody>
          <a:bodyPr rtlCol="0" lIns="237744" tIns="0" rIns="237744" bIns="0" anchor="ctr">
            <a:noAutofit/>
          </a:bodyPr>
          <a:lstStyle/>
          <a:p>
            <a:pPr algn="l"/>
            <a:r>
              <a:rPr lang="es-PE" sz="1200" b="1" i="0" u="none">
                <a:solidFill>
                  <a:srgbClr val="1E3A8A"/>
                </a:solidFill>
                <a:latin typeface="DM Sans"/>
              </a:rPr>
              <a:t xml:space="preserve">Violación de la tool: </a:t>
            </a:r>
            <a:r>
              <a:rPr lang="es-PE" sz="1200" b="0" i="0" u="none">
                <a:solidFill>
                  <a:srgbClr val="1E3A8A"/>
                </a:solidFill>
                <a:latin typeface="DM Sans"/>
              </a:rPr>
              <a:t>C tiene 2 sesiones de 5 h (máx. 3 h). Los 3 planes usan los 7 días: ninguno dejó día de descanso. Pesos: factibilidad 35 % · prioridades 30 % · balance 20 % · sobrecarga 15 % (100 = sin riesgo).</a:t>
            </a:r>
          </a:p>
        </p:txBody>
      </p:sp>
      <p:sp>
        <p:nvSpPr>
          <p:cNvPr id="30" name="Score A"/>
          <p:cNvSpPr txBox="1"/>
          <p:nvPr/>
        </p:nvSpPr>
        <p:spPr>
          <a:xfrm>
            <a:off x="838505" y="4553712"/>
            <a:ext cx="11887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800" b="1" i="0" u="none">
                <a:solidFill>
                  <a:srgbClr val="1D4ED8"/>
                </a:solidFill>
                <a:latin typeface="Space Grotesk"/>
              </a:rPr>
              <a:t>76.3</a:t>
            </a:r>
          </a:p>
        </p:txBody>
      </p:sp>
      <p:sp>
        <p:nvSpPr>
          <p:cNvPr id="31" name="Score label A"/>
          <p:cNvSpPr txBox="1"/>
          <p:nvPr/>
        </p:nvSpPr>
        <p:spPr>
          <a:xfrm>
            <a:off x="2027225" y="4626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puntaje ponderado</a:t>
            </a:r>
          </a:p>
        </p:txBody>
      </p:sp>
      <p:sp>
        <p:nvSpPr>
          <p:cNvPr id="32" name="Score breakdown A"/>
          <p:cNvSpPr txBox="1"/>
          <p:nvPr/>
        </p:nvSpPr>
        <p:spPr>
          <a:xfrm>
            <a:off x="838505" y="500176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Fact. 100 · Prior. 98 · Bal. 40 · Sobr. 26</a:t>
            </a:r>
          </a:p>
        </p:txBody>
      </p:sp>
      <p:sp>
        <p:nvSpPr>
          <p:cNvPr id="33" name="Score B"/>
          <p:cNvSpPr txBox="1"/>
          <p:nvPr/>
        </p:nvSpPr>
        <p:spPr>
          <a:xfrm>
            <a:off x="4587545" y="4553712"/>
            <a:ext cx="11887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800" b="1" i="0" u="none">
                <a:solidFill>
                  <a:srgbClr val="15803D"/>
                </a:solidFill>
                <a:latin typeface="Space Grotesk"/>
              </a:rPr>
              <a:t>85.1</a:t>
            </a:r>
          </a:p>
        </p:txBody>
      </p:sp>
      <p:sp>
        <p:nvSpPr>
          <p:cNvPr id="34" name="Score label B"/>
          <p:cNvSpPr txBox="1"/>
          <p:nvPr/>
        </p:nvSpPr>
        <p:spPr>
          <a:xfrm>
            <a:off x="5776265" y="4626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puntaje ponderado</a:t>
            </a:r>
          </a:p>
        </p:txBody>
      </p:sp>
      <p:sp>
        <p:nvSpPr>
          <p:cNvPr id="35" name="Score breakdown B"/>
          <p:cNvSpPr txBox="1"/>
          <p:nvPr/>
        </p:nvSpPr>
        <p:spPr>
          <a:xfrm>
            <a:off x="4587545" y="500176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Fact. 100 · Prior. 81 · Bal. 54 · Sobr. 100</a:t>
            </a:r>
          </a:p>
        </p:txBody>
      </p:sp>
      <p:sp>
        <p:nvSpPr>
          <p:cNvPr id="36" name="Score C"/>
          <p:cNvSpPr txBox="1"/>
          <p:nvPr/>
        </p:nvSpPr>
        <p:spPr>
          <a:xfrm>
            <a:off x="8336585" y="4553712"/>
            <a:ext cx="11887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800" b="1" i="0" u="none">
                <a:solidFill>
                  <a:srgbClr val="B91C1C"/>
                </a:solidFill>
                <a:latin typeface="Space Grotesk"/>
              </a:rPr>
              <a:t>80.7</a:t>
            </a:r>
          </a:p>
        </p:txBody>
      </p:sp>
      <p:sp>
        <p:nvSpPr>
          <p:cNvPr id="37" name="Score label C"/>
          <p:cNvSpPr txBox="1"/>
          <p:nvPr/>
        </p:nvSpPr>
        <p:spPr>
          <a:xfrm>
            <a:off x="9525305" y="4626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puntaje ponderado</a:t>
            </a:r>
          </a:p>
        </p:txBody>
      </p:sp>
      <p:sp>
        <p:nvSpPr>
          <p:cNvPr id="38" name="Score breakdown C"/>
          <p:cNvSpPr txBox="1"/>
          <p:nvPr/>
        </p:nvSpPr>
        <p:spPr>
          <a:xfrm>
            <a:off x="8336585" y="500176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Fact. 50 · Prior. 100 · Bal. 91 · Sobr. 100</a:t>
            </a:r>
          </a:p>
        </p:txBody>
      </p:sp>
      <p:sp>
        <p:nvSpPr>
          <p:cNvPr id="39" name="Telemetria"/>
          <p:cNvSpPr txBox="1"/>
          <p:nvPr/>
        </p:nvSpPr>
        <p:spPr>
          <a:xfrm>
            <a:off x="7925105" y="45720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s-PE" sz="1100" b="1" i="0" u="none">
                <a:solidFill>
                  <a:srgbClr val="16A34A"/>
                </a:solidFill>
                <a:latin typeface="JetBrains Mono"/>
              </a:rPr>
              <a:t>4 tools · 6 llamadas LLM · 15.2 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524125"/>
            <a:ext cx="4169568" cy="2705100"/>
          </a:xfrm>
          <a:prstGeom prst="roundRect">
            <a:avLst>
              <a:gd name="adj" fmla="val 5633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6368" y="2624137"/>
            <a:ext cx="171450" cy="20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368" y="3309937"/>
            <a:ext cx="190500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368" y="3995737"/>
            <a:ext cx="238125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6368" y="4681537"/>
            <a:ext cx="142875" cy="200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JetBrains Mono"/>
              </a:rPr>
              <a:t>06 · DECISIÓN FINAL DEL ASESOR ACADÉMICO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85800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Space Grotesk"/>
              </a:rPr>
              <a:t>Plan B Seleccionado: Carga Pareja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556" y="2867025"/>
            <a:ext cx="1821656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38BDF8"/>
                </a:solidFill>
                <a:latin typeface="JetBrains Mono"/>
              </a:rPr>
              <a:t>PUNTAJE PONDERADO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8540" y="3171825"/>
            <a:ext cx="2071687" cy="838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6600"/>
              </a:lnSpc>
            </a:pPr>
            <a:r>
              <a:rPr sz="6600" b="1" i="0" u="none">
                <a:solidFill>
                  <a:srgbClr val="F8FAFC"/>
                </a:solidFill>
                <a:latin typeface="DM Sans"/>
              </a:rPr>
              <a:t>85.1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6337" y="4162425"/>
            <a:ext cx="3036093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4ADE80"/>
                </a:solidFill>
                <a:latin typeface="DM Sans"/>
              </a:rPr>
              <a:t>Factible · riesgo mínimo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028" y="4486275"/>
            <a:ext cx="435471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94A3B8"/>
                </a:solidFill>
                <a:latin typeface="DM Sans"/>
              </a:rPr>
              <a:t>20.5 horas semanales con margen libre cada día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6368" y="2600325"/>
            <a:ext cx="6441281" cy="495300"/>
          </a:xfrm>
          <a:prstGeom prst="rect">
            <a:avLst/>
          </a:prstGeom>
          <a:noFill/>
        </p:spPr>
        <p:txBody>
          <a:bodyPr wrap="square" lIns="28575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Por qué fue elegido: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 xml:space="preserve"> Mayor puntaje ponderado (85.1), sin violaciones duras y con riesgo de sobrecarga mínimo.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6368" y="3286125"/>
            <a:ext cx="6441281" cy="495300"/>
          </a:xfrm>
          <a:prstGeom prst="rect">
            <a:avLst/>
          </a:prstGeom>
          <a:noFill/>
        </p:spPr>
        <p:txBody>
          <a:bodyPr wrap="square" lIns="30480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Riesgos permanentes: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 xml:space="preserve"> Cubre solo el 79 % de las horas de la Tesis (8.5 de 10.8 h); posible fatiga e imprevistos laborales.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6368" y="3971925"/>
            <a:ext cx="6441281" cy="495300"/>
          </a:xfrm>
          <a:prstGeom prst="rect">
            <a:avLst/>
          </a:prstGeom>
          <a:noFill/>
        </p:spPr>
        <p:txBody>
          <a:bodyPr wrap="square" lIns="352425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Revisión humana previa: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 xml:space="preserve"> Confirmar horario laboral y de inglés; el plan usa los 7 días: definir el día de descanso.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6368" y="4657725"/>
            <a:ext cx="6441281" cy="495300"/>
          </a:xfrm>
          <a:prstGeom prst="rect">
            <a:avLst/>
          </a:prstGeom>
          <a:noFill/>
        </p:spPr>
        <p:txBody>
          <a:bodyPr wrap="square" lIns="257175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Acción sugerida: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 xml:space="preserve"> Sumar 1–2 h semanales a la Tesis y hacer pausas breves cada 2 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600" y="2466975"/>
            <a:ext cx="3505200" cy="1581150"/>
          </a:xfrm>
          <a:prstGeom prst="roundRect">
            <a:avLst>
              <a:gd name="adj" fmla="val 8433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43400" y="2466975"/>
            <a:ext cx="3505200" cy="1581150"/>
          </a:xfrm>
          <a:prstGeom prst="roundRect">
            <a:avLst>
              <a:gd name="adj" fmla="val 8433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77200" y="2466975"/>
            <a:ext cx="3505200" cy="1581150"/>
          </a:xfrm>
          <a:prstGeom prst="roundRect">
            <a:avLst>
              <a:gd name="adj" fmla="val 8433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67700" y="5595937"/>
            <a:ext cx="3000375" cy="447675"/>
          </a:xfrm>
          <a:prstGeom prst="roundRect">
            <a:avLst>
              <a:gd name="adj" fmla="val 17021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5334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8BDF8"/>
                </a:solidFill>
                <a:latin typeface="JetBrains Mono"/>
              </a:rPr>
              <a:t>07 · EVALUACIÓN CRÍTICA &amp; DEMO EN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949584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Límites</a:t>
            </a:r>
            <a:r>
              <a:rPr sz="2700" b="1" i="0" u="none" dirty="0">
                <a:solidFill>
                  <a:srgbClr val="F8FAFC"/>
                </a:solidFill>
                <a:latin typeface="Space Grotesk"/>
              </a:rPr>
              <a:t> del Sistema, </a:t>
            </a:r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Rol</a:t>
            </a:r>
            <a:r>
              <a:rPr sz="2700" b="1" i="0" u="none" dirty="0">
                <a:solidFill>
                  <a:srgbClr val="F8FAFC"/>
                </a:solidFill>
                <a:latin typeface="Space Grotesk"/>
              </a:rPr>
              <a:t> </a:t>
            </a:r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Humano</a:t>
            </a:r>
            <a:r>
              <a:rPr sz="2700" b="1" i="0" u="none" dirty="0">
                <a:solidFill>
                  <a:srgbClr val="F8FAFC"/>
                </a:solidFill>
                <a:latin typeface="Space Grotesk"/>
              </a:rPr>
              <a:t> y </a:t>
            </a:r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Siguiente</a:t>
            </a:r>
            <a:r>
              <a:rPr sz="2700" b="1" i="0" u="none" dirty="0">
                <a:solidFill>
                  <a:srgbClr val="F8FAFC"/>
                </a:solidFill>
                <a:latin typeface="Space Grotesk"/>
              </a:rPr>
              <a:t> </a:t>
            </a:r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Versión</a:t>
            </a:r>
            <a:endParaRPr sz="2700" b="1" i="0" u="none" dirty="0">
              <a:solidFill>
                <a:srgbClr val="F8FAFC"/>
              </a:solidFill>
              <a:latin typeface="Space Grotesk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76300" y="2733675"/>
            <a:ext cx="3900487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5 Chequeos Superados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3095625"/>
            <a:ext cx="30670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BD5E1"/>
                </a:solidFill>
                <a:latin typeface="DM Sans"/>
              </a:rPr>
              <a:t>Validación determinista de factibilidad, ranking, cursos urgentes, uso de tools y holgura ≤90%.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0100" y="2733675"/>
            <a:ext cx="3900487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Límites y Datos Falsos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3095625"/>
            <a:ext cx="30670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BD5E1"/>
                </a:solidFill>
                <a:latin typeface="DM Sans"/>
              </a:rPr>
              <a:t>Datos faltantes se declaran como supuestos, pero el typo «Vienes» se ignoró sin avisar el viernes.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3900" y="2733675"/>
            <a:ext cx="38481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Mejoras v2.0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3900" y="3095625"/>
            <a:ext cx="30670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BD5E1"/>
                </a:solidFill>
                <a:latin typeface="DM Sans"/>
              </a:rPr>
              <a:t>Avisar de días no reconocidos, tool para el descanso, seguimiento semanal. Ya hay export .ics (extra).</a:t>
            </a:r>
          </a:p>
        </p:txBody>
      </p:sp>
      <p:sp>
        <p:nvSpPr>
          <p:cNvPr id="16" name="Hallazgo card"/>
          <p:cNvSpPr/>
          <p:nvPr/>
        </p:nvSpPr>
        <p:spPr>
          <a:xfrm>
            <a:off x="609905" y="4315968"/>
            <a:ext cx="7232904" cy="1691640"/>
          </a:xfrm>
          <a:prstGeom prst="roundRect">
            <a:avLst>
              <a:gd name="adj" fmla="val 8433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Hallazgo title"/>
          <p:cNvSpPr txBox="1"/>
          <p:nvPr/>
        </p:nvSpPr>
        <p:spPr>
          <a:xfrm>
            <a:off x="875081" y="4553712"/>
            <a:ext cx="6702552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Hallazgo con el caso real</a:t>
            </a:r>
          </a:p>
        </p:txBody>
      </p:sp>
      <p:sp>
        <p:nvSpPr>
          <p:cNvPr id="18" name="Hallazgo body"/>
          <p:cNvSpPr txBox="1"/>
          <p:nvPr/>
        </p:nvSpPr>
        <p:spPr>
          <a:xfrm>
            <a:off x="875081" y="4919472"/>
            <a:ext cx="670255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BD5E1"/>
                </a:solidFill>
                <a:latin typeface="DM Sans"/>
              </a:rPr>
              <a:t>Los 3 planes usan los 7 días: ninguno dejó el día de descanso. Esa restricción, escrita en texto libre, no la verifica ninguna tool. Además, el Plan B cubre solo el 79 % de las horas de la Tesis.</a:t>
            </a:r>
          </a:p>
        </p:txBody>
      </p:sp>
      <p:sp>
        <p:nvSpPr>
          <p:cNvPr id="19" name="Demo card"/>
          <p:cNvSpPr/>
          <p:nvPr/>
        </p:nvSpPr>
        <p:spPr>
          <a:xfrm>
            <a:off x="8076895" y="4315968"/>
            <a:ext cx="3502152" cy="1691640"/>
          </a:xfrm>
          <a:prstGeom prst="roundRect">
            <a:avLst>
              <a:gd name="adj" fmla="val 8433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Demo title"/>
          <p:cNvSpPr txBox="1"/>
          <p:nvPr/>
        </p:nvSpPr>
        <p:spPr>
          <a:xfrm>
            <a:off x="8342071" y="4553712"/>
            <a:ext cx="2971800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Demo en vivo</a:t>
            </a:r>
          </a:p>
        </p:txBody>
      </p:sp>
      <p:sp>
        <p:nvSpPr>
          <p:cNvPr id="21" name="Demo body"/>
          <p:cNvSpPr txBox="1"/>
          <p:nvPr/>
        </p:nvSpPr>
        <p:spPr>
          <a:xfrm>
            <a:off x="8342071" y="4919472"/>
            <a:ext cx="2971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BD5E1"/>
                </a:solidFill>
                <a:latin typeface="DM Sans"/>
              </a:rPr>
              <a:t>El otro equipo dicta los 5 inputs; corren los 4 agentes y se ven las tools ejecutadas y el plan recomendado.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689</Words>
  <Application>Microsoft Office PowerPoint</Application>
  <PresentationFormat>Panorámica</PresentationFormat>
  <Paragraphs>99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4" baseType="lpstr">
      <vt:lpstr>Space Grotesk</vt:lpstr>
      <vt:lpstr>Arial</vt:lpstr>
      <vt:lpstr>JetBrains Mono</vt:lpstr>
      <vt:lpstr>DM Sans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User</cp:lastModifiedBy>
  <cp:revision>3</cp:revision>
  <dcterms:created xsi:type="dcterms:W3CDTF">2013-01-27T09:14:16Z</dcterms:created>
  <dcterms:modified xsi:type="dcterms:W3CDTF">2026-10-14T15:31:40Z</dcterms:modified>
  <cp:category/>
</cp:coreProperties>
</file>